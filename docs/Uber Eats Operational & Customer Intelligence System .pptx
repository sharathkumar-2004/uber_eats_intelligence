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 Medium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bold r:id="rId28"/>
      <p:boldItalic r:id="rId29"/>
    </p:embeddedFont>
    <p:embeddedFont>
      <p:font typeface="Inter ExtraBold"/>
      <p:bold r:id="rId30"/>
      <p:boldItalic r:id="rId31"/>
    </p:embeddedFont>
    <p:embeddedFont>
      <p:font typeface="Roboto Mono"/>
      <p:bold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regular.fntdata"/><Relationship Id="rId22" Type="http://schemas.openxmlformats.org/officeDocument/2006/relationships/font" Target="fonts/RobotoMonoMedium-italic.fntdata"/><Relationship Id="rId21" Type="http://schemas.openxmlformats.org/officeDocument/2006/relationships/font" Target="fonts/RobotoMonoMedium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RobotoMon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bold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.fntdata"/><Relationship Id="rId12" Type="http://schemas.openxmlformats.org/officeDocument/2006/relationships/slide" Target="slides/slide7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10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f89ae96b7154dc9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f89ae96b7154dc9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f89ae96b7154dc9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f89ae96b7154dc9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f89ae96b7154dc9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f89ae96b7154dc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f89ae96b7154dc9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f89ae96b7154dc9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f89ae96b7154dc9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f89ae96b7154dc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f89ae96b7154dc9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f89ae96b7154dc9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f89ae96b7154dc9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hf89ae96b7154dc9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f89ae96b7154dc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hf89ae96b7154dc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f89ae96b7154dc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f89ae96b7154dc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f89ae96b7154dc9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hf89ae96b7154dc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f89ae96b7154dc9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hf89ae96b7154dc9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f89ae96b7154dc9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hf89ae96b7154dc9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f89ae96b7154dc9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f89ae96b7154dc9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hf89ae96b7154dc9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hf89ae96b7154dc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f89ae96b7154dc9_9_0)">
  <p:cSld name="Generated (hf89ae96b7154dc9_9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56" name="Google Shape;56;p14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4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381000" y="7620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rPr>
              <a:t>End-to-End Machine Learning Project</a:t>
            </a:r>
            <a:endParaRPr b="1" sz="1000">
              <a:solidFill>
                <a:srgbClr val="006C5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Uber Eats Operational &amp; Customer Intelligence System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381000" y="2000250"/>
            <a:ext cx="4953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" name="Google Shape;65;p14"/>
          <p:cNvGrpSpPr/>
          <p:nvPr/>
        </p:nvGrpSpPr>
        <p:grpSpPr>
          <a:xfrm>
            <a:off x="400050" y="2190750"/>
            <a:ext cx="4934100" cy="857400"/>
            <a:chOff x="19050" y="0"/>
            <a:chExt cx="4934100" cy="857400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19050" y="57150"/>
              <a:ext cx="171450" cy="76200"/>
              <a:chOff x="19050" y="19050"/>
              <a:chExt cx="171450" cy="762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19050" y="19050"/>
                <a:ext cx="762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8" name="Google Shape;68;p14"/>
              <p:cNvCxnSpPr/>
              <p:nvPr/>
            </p:nvCxnSpPr>
            <p:spPr>
              <a:xfrm>
                <a:off x="114300" y="5715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9" name="Google Shape;69;p14"/>
            <p:cNvSpPr txBox="1"/>
            <p:nvPr/>
          </p:nvSpPr>
          <p:spPr>
            <a:xfrm>
              <a:off x="285750" y="0"/>
              <a:ext cx="466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1" sz="10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End-to-end demonstration of data analytics and machine learning applied to food delivery operational data.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400050" y="3143250"/>
            <a:ext cx="4934100" cy="1238400"/>
            <a:chOff x="19050" y="0"/>
            <a:chExt cx="4934100" cy="1238400"/>
          </a:xfrm>
        </p:grpSpPr>
        <p:grpSp>
          <p:nvGrpSpPr>
            <p:cNvPr id="71" name="Google Shape;71;p14"/>
            <p:cNvGrpSpPr/>
            <p:nvPr/>
          </p:nvGrpSpPr>
          <p:grpSpPr>
            <a:xfrm>
              <a:off x="19050" y="57150"/>
              <a:ext cx="171450" cy="76200"/>
              <a:chOff x="19050" y="19050"/>
              <a:chExt cx="171450" cy="762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19050" y="19050"/>
                <a:ext cx="76200" cy="76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3" name="Google Shape;73;p14"/>
              <p:cNvCxnSpPr/>
              <p:nvPr/>
            </p:nvCxnSpPr>
            <p:spPr>
              <a:xfrm>
                <a:off x="114300" y="5715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4" name="Google Shape;74;p14"/>
            <p:cNvSpPr txBox="1"/>
            <p:nvPr/>
          </p:nvSpPr>
          <p:spPr>
            <a:xfrm>
              <a:off x="285750" y="0"/>
              <a:ext cx="4667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Solution Summary</a:t>
              </a:r>
              <a:endParaRPr b="1" sz="10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Integrated analytics pipeline covering customer and restaurant segmentation, sentiment analysis, delivery-time regression, and demand forecasting.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5524500" y="762000"/>
            <a:ext cx="3238500" cy="3619500"/>
            <a:chOff x="0" y="0"/>
            <a:chExt cx="3238500" cy="36195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3238500" cy="3619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228600" y="228600"/>
              <a:ext cx="27813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&gt;_ TECHNOLOGIES</a:t>
              </a:r>
              <a:endParaRPr b="1" sz="1100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Python, Pandas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ML Framework: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Scikit-Learn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Clustering: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K-Means, DBSCAN, PCA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NLP &amp; Sentiment: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TF-IDF, Naive Bayes, Logistic Regression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Regression: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Ridge, Lasso, Random Forest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006C5B"/>
                </a:buClr>
                <a:buSzPts val="1400"/>
                <a:buChar char="●"/>
              </a:pPr>
              <a:r>
                <a:rPr b="1" lang="en" sz="10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Time Series:</a:t>
              </a:r>
              <a:r>
                <a:rPr b="0" lang="en" sz="1000">
                  <a:solidFill>
                    <a:srgbClr val="EAEAE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ARIMA, Prophet</a:t>
              </a:r>
              <a:endParaRPr b="0" sz="1000">
                <a:solidFill>
                  <a:srgbClr val="EAEAE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84" name="Google Shape;84;p15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5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8" name="Google Shape;88;p15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762000" y="3048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Optimizing Food Delivery Operations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2" name="Google Shape;92;p15"/>
          <p:cNvCxnSpPr/>
          <p:nvPr/>
        </p:nvCxnSpPr>
        <p:spPr>
          <a:xfrm>
            <a:off x="381000" y="95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" name="Google Shape;93;p15"/>
          <p:cNvGrpSpPr/>
          <p:nvPr/>
        </p:nvGrpSpPr>
        <p:grpSpPr>
          <a:xfrm>
            <a:off x="381000" y="1190625"/>
            <a:ext cx="2667000" cy="3286200"/>
            <a:chOff x="381000" y="1190625"/>
            <a:chExt cx="2667000" cy="3286200"/>
          </a:xfrm>
        </p:grpSpPr>
        <p:grpSp>
          <p:nvGrpSpPr>
            <p:cNvPr id="94" name="Google Shape;94;p15"/>
            <p:cNvGrpSpPr/>
            <p:nvPr/>
          </p:nvGrpSpPr>
          <p:grpSpPr>
            <a:xfrm>
              <a:off x="381000" y="1190625"/>
              <a:ext cx="2667000" cy="1000200"/>
              <a:chOff x="0" y="0"/>
              <a:chExt cx="2667000" cy="10002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0" y="0"/>
                <a:ext cx="2667000" cy="10002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6" name="Google Shape;96;p15"/>
              <p:cNvCxnSpPr/>
              <p:nvPr/>
            </p:nvCxnSpPr>
            <p:spPr>
              <a:xfrm>
                <a:off x="0" y="0"/>
                <a:ext cx="2667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3810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15"/>
              <p:cNvSpPr txBox="1"/>
              <p:nvPr/>
            </p:nvSpPr>
            <p:spPr>
              <a:xfrm>
                <a:off x="190500" y="142875"/>
                <a:ext cx="2286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200">
                    <a:solidFill>
                      <a:srgbClr val="006C5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49%</a:t>
                </a:r>
                <a:endParaRPr b="0" sz="320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Orders Take Over 1 Hour</a:t>
                </a:r>
                <a:endParaRPr b="0" sz="9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381000" y="2333625"/>
              <a:ext cx="2667000" cy="1000200"/>
              <a:chOff x="0" y="0"/>
              <a:chExt cx="2667000" cy="1000200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0" y="0"/>
                <a:ext cx="2667000" cy="10002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0" name="Google Shape;100;p15"/>
              <p:cNvCxnSpPr/>
              <p:nvPr/>
            </p:nvCxnSpPr>
            <p:spPr>
              <a:xfrm>
                <a:off x="0" y="0"/>
                <a:ext cx="2667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3810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" name="Google Shape;101;p15"/>
              <p:cNvSpPr txBox="1"/>
              <p:nvPr/>
            </p:nvSpPr>
            <p:spPr>
              <a:xfrm>
                <a:off x="190500" y="142875"/>
                <a:ext cx="2286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200">
                    <a:solidFill>
                      <a:srgbClr val="006C5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11.8%</a:t>
                </a:r>
                <a:endParaRPr b="0" sz="320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Orders Cancelled or Failed</a:t>
                </a:r>
                <a:endParaRPr b="0" sz="9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02" name="Google Shape;102;p15"/>
            <p:cNvGrpSpPr/>
            <p:nvPr/>
          </p:nvGrpSpPr>
          <p:grpSpPr>
            <a:xfrm>
              <a:off x="381000" y="3476625"/>
              <a:ext cx="2667000" cy="1000200"/>
              <a:chOff x="0" y="0"/>
              <a:chExt cx="2667000" cy="1000200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0" y="0"/>
                <a:ext cx="2667000" cy="10002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" name="Google Shape;104;p15"/>
              <p:cNvCxnSpPr/>
              <p:nvPr/>
            </p:nvCxnSpPr>
            <p:spPr>
              <a:xfrm>
                <a:off x="0" y="0"/>
                <a:ext cx="2667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38100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5" name="Google Shape;105;p15"/>
              <p:cNvSpPr txBox="1"/>
              <p:nvPr/>
            </p:nvSpPr>
            <p:spPr>
              <a:xfrm>
                <a:off x="190500" y="142875"/>
                <a:ext cx="2286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200">
                    <a:solidFill>
                      <a:srgbClr val="006C5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14%</a:t>
                </a:r>
                <a:endParaRPr b="0" sz="320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Negative Customer Reviews</a:t>
                </a:r>
                <a:endParaRPr b="0" sz="9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cxnSp>
        <p:nvCxnSpPr>
          <p:cNvPr id="106" name="Google Shape;106;p15"/>
          <p:cNvCxnSpPr/>
          <p:nvPr/>
        </p:nvCxnSpPr>
        <p:spPr>
          <a:xfrm>
            <a:off x="3333750" y="1190625"/>
            <a:ext cx="0" cy="32862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3619500" y="1190625"/>
            <a:ext cx="5143500" cy="3286050"/>
            <a:chOff x="3619500" y="1190625"/>
            <a:chExt cx="5143500" cy="3286050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3619500" y="1190625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Role of Analytics &amp; Machine Learning</a:t>
              </a:r>
              <a:endParaRPr b="0" sz="1295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Transforming raw, disconnected transactional data into a cohesive intelligence system to move beyond basic reporting.</a:t>
              </a:r>
              <a:endParaRPr b="0" sz="971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" name="Google Shape;109;p15"/>
            <p:cNvGrpSpPr/>
            <p:nvPr/>
          </p:nvGrpSpPr>
          <p:grpSpPr>
            <a:xfrm>
              <a:off x="3638550" y="1952625"/>
              <a:ext cx="5124450" cy="457200"/>
              <a:chOff x="19050" y="0"/>
              <a:chExt cx="5124450" cy="4572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19050" y="38100"/>
                <a:ext cx="76200" cy="762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190500" y="0"/>
                <a:ext cx="4953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Root Cause Identification</a:t>
                </a:r>
                <a:endParaRPr b="0" sz="935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Uncover underlying drivers of delivery delays and restaurant preparation inefficiencies.</a:t>
                </a:r>
                <a:endParaRPr b="0" sz="893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3638550" y="2476500"/>
              <a:ext cx="5124450" cy="457200"/>
              <a:chOff x="19050" y="0"/>
              <a:chExt cx="5124450" cy="4572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9050" y="38100"/>
                <a:ext cx="76200" cy="762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190500" y="0"/>
                <a:ext cx="4953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Customer Churn Prevention</a:t>
                </a:r>
                <a:endParaRPr b="0" sz="935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Identify high-value customer segments at risk of churn to enable targeted retention strategies.</a:t>
                </a:r>
                <a:endParaRPr b="0" sz="893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3638550" y="3000375"/>
              <a:ext cx="5124450" cy="457200"/>
              <a:chOff x="19050" y="0"/>
              <a:chExt cx="5124450" cy="45720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19050" y="38100"/>
                <a:ext cx="76200" cy="762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 txBox="1"/>
              <p:nvPr/>
            </p:nvSpPr>
            <p:spPr>
              <a:xfrm>
                <a:off x="190500" y="0"/>
                <a:ext cx="4953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Predictive Demand Forecasting</a:t>
                </a:r>
                <a:endParaRPr b="0" sz="935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Forecast uncertain demand patterns to optimize resource allocation across operations.</a:t>
                </a:r>
                <a:endParaRPr b="0" sz="893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8" name="Google Shape;118;p15"/>
            <p:cNvGrpSpPr/>
            <p:nvPr/>
          </p:nvGrpSpPr>
          <p:grpSpPr>
            <a:xfrm>
              <a:off x="3619500" y="3571875"/>
              <a:ext cx="5143500" cy="904800"/>
              <a:chOff x="0" y="0"/>
              <a:chExt cx="5143500" cy="904800"/>
            </a:xfrm>
          </p:grpSpPr>
          <p:sp>
            <p:nvSpPr>
              <p:cNvPr id="119" name="Google Shape;119;p15"/>
              <p:cNvSpPr/>
              <p:nvPr/>
            </p:nvSpPr>
            <p:spPr>
              <a:xfrm>
                <a:off x="0" y="0"/>
                <a:ext cx="5143500" cy="904800"/>
              </a:xfrm>
              <a:prstGeom prst="rect">
                <a:avLst/>
              </a:prstGeom>
              <a:solidFill>
                <a:srgbClr val="D1E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57300" cy="9048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228600" y="152400"/>
                <a:ext cx="4724400" cy="6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18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Strategic Impact</a:t>
                </a:r>
                <a:endParaRPr b="1" sz="1018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This end-to-end analytical approach enables data-driven decision-making to improve both operational efficiency and overall customer satisfaction.</a:t>
                </a:r>
                <a:endParaRPr b="0" sz="1018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6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cxnSp>
            <p:nvCxnSpPr>
              <p:cNvPr id="129" name="Google Shape;129;p16"/>
              <p:cNvCxnSpPr/>
              <p:nvPr/>
            </p:nvCxnSpPr>
            <p:spPr>
              <a:xfrm>
                <a:off x="381000" y="0"/>
                <a:ext cx="0" cy="514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6"/>
              <p:cNvCxnSpPr/>
              <p:nvPr/>
            </p:nvCxnSpPr>
            <p:spPr>
              <a:xfrm>
                <a:off x="8763000" y="0"/>
                <a:ext cx="0" cy="514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6"/>
              <p:cNvCxnSpPr/>
              <p:nvPr/>
            </p:nvCxnSpPr>
            <p:spPr>
              <a:xfrm>
                <a:off x="0" y="38100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6"/>
              <p:cNvCxnSpPr/>
              <p:nvPr/>
            </p:nvCxnSpPr>
            <p:spPr>
              <a:xfrm>
                <a:off x="0" y="476250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33" name="Google Shape;133;p16"/>
            <p:cNvGrpSpPr/>
            <p:nvPr/>
          </p:nvGrpSpPr>
          <p:grpSpPr>
            <a:xfrm>
              <a:off x="381000" y="381000"/>
              <a:ext cx="304800" cy="304800"/>
              <a:chOff x="0" y="0"/>
              <a:chExt cx="304800" cy="304800"/>
            </a:xfrm>
          </p:grpSpPr>
          <p:sp>
            <p:nvSpPr>
              <p:cNvPr id="134" name="Google Shape;134;p16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152400" y="152400"/>
                <a:ext cx="152400" cy="1524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6" name="Google Shape;136;p16"/>
            <p:cNvSpPr txBox="1"/>
            <p:nvPr/>
          </p:nvSpPr>
          <p:spPr>
            <a:xfrm>
              <a:off x="762000" y="36195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Dataset Architecture &amp; Scale</a:t>
              </a:r>
              <a:endParaRPr b="1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37" name="Google Shape;137;p16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8" name="Google Shape;138;p16"/>
          <p:cNvGrpSpPr/>
          <p:nvPr/>
        </p:nvGrpSpPr>
        <p:grpSpPr>
          <a:xfrm>
            <a:off x="381000" y="1095375"/>
            <a:ext cx="1238400" cy="666900"/>
            <a:chOff x="0" y="0"/>
            <a:chExt cx="1238400" cy="6669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5,000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Orders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1762125" y="1095375"/>
            <a:ext cx="1238400" cy="666900"/>
            <a:chOff x="0" y="0"/>
            <a:chExt cx="1238400" cy="666900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" name="Google Shape;144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" name="Google Shape;145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500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Customers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3143250" y="1095375"/>
            <a:ext cx="1238400" cy="666900"/>
            <a:chOff x="0" y="0"/>
            <a:chExt cx="1238400" cy="66690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" name="Google Shape;148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" name="Google Shape;149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50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Restaurants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381000" y="1857375"/>
            <a:ext cx="1238400" cy="666900"/>
            <a:chOff x="0" y="0"/>
            <a:chExt cx="1238400" cy="666900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2" name="Google Shape;152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100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Drivers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1762125" y="1857375"/>
            <a:ext cx="1238400" cy="666900"/>
            <a:chOff x="0" y="0"/>
            <a:chExt cx="1238400" cy="666900"/>
          </a:xfrm>
        </p:grpSpPr>
        <p:sp>
          <p:nvSpPr>
            <p:cNvPr id="155" name="Google Shape;155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" name="Google Shape;156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Major Cities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3143250" y="1857375"/>
            <a:ext cx="1238400" cy="666900"/>
            <a:chOff x="0" y="0"/>
            <a:chExt cx="1238400" cy="666900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1238400" cy="6669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16"/>
            <p:cNvCxnSpPr/>
            <p:nvPr/>
          </p:nvCxnSpPr>
          <p:spPr>
            <a:xfrm>
              <a:off x="0" y="0"/>
              <a:ext cx="12384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p16"/>
            <p:cNvSpPr txBox="1"/>
            <p:nvPr/>
          </p:nvSpPr>
          <p:spPr>
            <a:xfrm>
              <a:off x="114300" y="95250"/>
              <a:ext cx="1009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17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</a:t>
              </a:r>
              <a:endParaRPr b="0" sz="217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Months Data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62" name="Google Shape;162;p16"/>
          <p:cNvSpPr txBox="1"/>
          <p:nvPr/>
        </p:nvSpPr>
        <p:spPr>
          <a:xfrm>
            <a:off x="381000" y="2619375"/>
            <a:ext cx="4000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65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COVERAGE: Delhi, Mumbai, Bengaluru, Hyderabad, Pune</a:t>
            </a:r>
            <a:endParaRPr b="0" sz="765">
              <a:solidFill>
                <a:srgbClr val="5555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Simulates real-world food delivery marketplace dynamics across a continuous operational window.</a:t>
            </a:r>
            <a:endParaRPr b="0" sz="85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3" name="Google Shape;163;p16"/>
          <p:cNvCxnSpPr/>
          <p:nvPr/>
        </p:nvCxnSpPr>
        <p:spPr>
          <a:xfrm>
            <a:off x="4572000" y="1095375"/>
            <a:ext cx="0" cy="19527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6"/>
          <p:cNvSpPr txBox="1"/>
          <p:nvPr/>
        </p:nvSpPr>
        <p:spPr>
          <a:xfrm>
            <a:off x="4762500" y="1095375"/>
            <a:ext cx="4000500" cy="19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Underlying Data Architecture (5 Core Schemas)</a:t>
            </a:r>
            <a:endParaRPr b="0" sz="90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11111"/>
                </a:solidFill>
                <a:highlight>
                  <a:srgbClr val="EAEAEA"/>
                </a:highlight>
                <a:latin typeface="Roboto Mono"/>
                <a:ea typeface="Roboto Mono"/>
                <a:cs typeface="Roboto Mono"/>
                <a:sym typeface="Roboto Mono"/>
              </a:rPr>
              <a:t>Customers</a:t>
            </a:r>
            <a:r>
              <a:rPr b="0" lang="en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000">
                <a:solidFill>
                  <a:srgbClr val="111111"/>
                </a:solidFill>
                <a:highlight>
                  <a:srgbClr val="EAEAEA"/>
                </a:highlight>
                <a:latin typeface="Roboto Mono"/>
                <a:ea typeface="Roboto Mono"/>
                <a:cs typeface="Roboto Mono"/>
                <a:sym typeface="Roboto Mono"/>
              </a:rPr>
              <a:t>Restaurants</a:t>
            </a:r>
            <a:r>
              <a:rPr b="0" lang="en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000">
                <a:solidFill>
                  <a:srgbClr val="111111"/>
                </a:solidFill>
                <a:highlight>
                  <a:srgbClr val="EAEAEA"/>
                </a:highlight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endParaRPr b="0" sz="11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11111"/>
                </a:solidFill>
                <a:highlight>
                  <a:srgbClr val="EAEAEA"/>
                </a:highlight>
                <a:latin typeface="Roboto Mono"/>
                <a:ea typeface="Roboto Mono"/>
                <a:cs typeface="Roboto Mono"/>
                <a:sym typeface="Roboto Mono"/>
              </a:rPr>
              <a:t>Deliveries</a:t>
            </a:r>
            <a:r>
              <a:rPr b="0" lang="en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000">
                <a:solidFill>
                  <a:srgbClr val="111111"/>
                </a:solidFill>
                <a:highlight>
                  <a:srgbClr val="EAEAEA"/>
                </a:highlight>
                <a:latin typeface="Roboto Mono"/>
                <a:ea typeface="Roboto Mono"/>
                <a:cs typeface="Roboto Mono"/>
                <a:sym typeface="Roboto Mono"/>
              </a:rPr>
              <a:t>Reviews</a:t>
            </a:r>
            <a:endParaRPr b="0" sz="11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Captures a wide array of operational variables including order amount, delivery distance, preparation time, and customer feedback.</a:t>
            </a:r>
            <a:endParaRPr b="0" sz="11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5" name="Google Shape;165;p16"/>
          <p:cNvGrpSpPr/>
          <p:nvPr/>
        </p:nvGrpSpPr>
        <p:grpSpPr>
          <a:xfrm>
            <a:off x="381000" y="3238500"/>
            <a:ext cx="8382000" cy="1333500"/>
            <a:chOff x="0" y="0"/>
            <a:chExt cx="8382000" cy="13335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8382000" cy="13335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57300" cy="1333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228600" y="152400"/>
              <a:ext cx="79248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Integrity &amp; Synthetic Origin Disclaimer</a:t>
              </a:r>
              <a:endParaRPr b="0" sz="9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This dataset is </a:t>
              </a: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entirely synthetic</a:t>
              </a:r>
              <a:r>
                <a:rPr b="0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, generated specifically for this analytical exercise.</a:t>
              </a:r>
              <a:endParaRPr b="0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While it accurately mirrors the structure and complexity of a live production environment, the inherent relationships and specific data points do not represent actual historical Uber Eats operations.</a:t>
              </a:r>
              <a:endParaRPr b="0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74" name="Google Shape;17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6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58238" y="0"/>
              <a:ext cx="96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762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757738"/>
              <a:ext cx="914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7"/>
          <p:cNvGrpSpPr/>
          <p:nvPr/>
        </p:nvGrpSpPr>
        <p:grpSpPr>
          <a:xfrm>
            <a:off x="381000" y="342900"/>
            <a:ext cx="266850" cy="266850"/>
            <a:chOff x="0" y="0"/>
            <a:chExt cx="266850" cy="266850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133500" cy="13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133350" y="133350"/>
              <a:ext cx="133500" cy="133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7"/>
          <p:cNvSpPr txBox="1"/>
          <p:nvPr/>
        </p:nvSpPr>
        <p:spPr>
          <a:xfrm>
            <a:off x="762000" y="2667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Preparation &amp; EDA Pipeline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2" name="Google Shape;182;p17"/>
          <p:cNvCxnSpPr/>
          <p:nvPr/>
        </p:nvCxnSpPr>
        <p:spPr>
          <a:xfrm>
            <a:off x="381000" y="8001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7"/>
          <p:cNvSpPr txBox="1"/>
          <p:nvPr/>
        </p:nvSpPr>
        <p:spPr>
          <a:xfrm>
            <a:off x="381000" y="9144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&gt;_ OVERARCHING ANALYTICAL WORKFLOW</a:t>
            </a:r>
            <a:endParaRPr b="0" sz="900">
              <a:solidFill>
                <a:srgbClr val="006C5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184" name="Google Shape;184;p17"/>
          <p:cNvGrpSpPr/>
          <p:nvPr/>
        </p:nvGrpSpPr>
        <p:grpSpPr>
          <a:xfrm>
            <a:off x="381000" y="1123950"/>
            <a:ext cx="8382150" cy="400200"/>
            <a:chOff x="381000" y="1123950"/>
            <a:chExt cx="8382150" cy="400200"/>
          </a:xfrm>
        </p:grpSpPr>
        <p:sp>
          <p:nvSpPr>
            <p:cNvPr id="185" name="Google Shape;185;p17"/>
            <p:cNvSpPr/>
            <p:nvPr/>
          </p:nvSpPr>
          <p:spPr>
            <a:xfrm>
              <a:off x="381000" y="1123950"/>
              <a:ext cx="933600" cy="400200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381000" y="1123950"/>
              <a:ext cx="93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Raw Data</a:t>
              </a:r>
              <a:endParaRPr b="0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135255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1524000" y="1123950"/>
              <a:ext cx="933600" cy="400200"/>
            </a:xfrm>
            <a:prstGeom prst="rect">
              <a:avLst/>
            </a:prstGeom>
            <a:solidFill>
              <a:srgbClr val="D1E5E1"/>
            </a:solidFill>
            <a:ln cap="flat" cmpd="sng" w="14300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1524000" y="1123950"/>
              <a:ext cx="93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Cleaning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249555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2667000" y="1123950"/>
              <a:ext cx="971700" cy="400200"/>
            </a:xfrm>
            <a:prstGeom prst="rect">
              <a:avLst/>
            </a:prstGeom>
            <a:solidFill>
              <a:srgbClr val="D1E5E1"/>
            </a:solidFill>
            <a:ln cap="flat" cmpd="sng" w="14300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2667000" y="1123950"/>
              <a:ext cx="971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Feature Eng.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367665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3848100" y="1123950"/>
              <a:ext cx="933600" cy="400200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3848100" y="1123950"/>
              <a:ext cx="93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Analysis</a:t>
              </a:r>
              <a:endParaRPr b="0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81965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4991100" y="1123950"/>
              <a:ext cx="1028700" cy="400200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4991100" y="1123950"/>
              <a:ext cx="10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Training</a:t>
              </a:r>
              <a:endParaRPr b="0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605790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6229350" y="1123950"/>
              <a:ext cx="933600" cy="400200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6229350" y="1123950"/>
              <a:ext cx="933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</a:t>
              </a:r>
              <a:endParaRPr b="0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7200900" y="1276350"/>
              <a:ext cx="133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7143" y="0"/>
                  </a:moveTo>
                  <a:lnTo>
                    <a:pt x="120000" y="60000"/>
                  </a:lnTo>
                  <a:lnTo>
                    <a:pt x="77143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7372350" y="1123950"/>
              <a:ext cx="1390800" cy="400200"/>
            </a:xfrm>
            <a:prstGeom prst="rect">
              <a:avLst/>
            </a:prstGeom>
            <a:solidFill>
              <a:srgbClr val="EAEAEA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7372350" y="1123950"/>
              <a:ext cx="139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Business Insights</a:t>
              </a:r>
              <a:endParaRPr b="0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cxnSp>
        <p:nvCxnSpPr>
          <p:cNvPr id="205" name="Google Shape;205;p17"/>
          <p:cNvCxnSpPr/>
          <p:nvPr/>
        </p:nvCxnSpPr>
        <p:spPr>
          <a:xfrm>
            <a:off x="381000" y="16573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6" name="Google Shape;206;p17"/>
          <p:cNvGrpSpPr/>
          <p:nvPr/>
        </p:nvGrpSpPr>
        <p:grpSpPr>
          <a:xfrm>
            <a:off x="381000" y="1790700"/>
            <a:ext cx="4048200" cy="2133600"/>
            <a:chOff x="0" y="0"/>
            <a:chExt cx="4048200" cy="2133600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4048200" cy="21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0" y="0"/>
              <a:ext cx="38100" cy="21336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171450" y="133350"/>
              <a:ext cx="3714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Hygiene &amp; Quality Checks</a:t>
              </a:r>
              <a:endParaRPr b="0" sz="13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• Loading &amp; Inspection: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Conducted initial visual and structural inspection on raw synthetic data tables.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• Cleaning &amp; Deduplication: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Executed thorough cleaning pipelines to strip duplicate records and fix inconsistencies.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• Notebook Validation: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Enforced strict quality checks using interactive notebooks to systematically identify and resolve missing values.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0" name="Google Shape;210;p17"/>
          <p:cNvGrpSpPr/>
          <p:nvPr/>
        </p:nvGrpSpPr>
        <p:grpSpPr>
          <a:xfrm>
            <a:off x="4714875" y="1790700"/>
            <a:ext cx="4048200" cy="2133600"/>
            <a:chOff x="0" y="0"/>
            <a:chExt cx="4048200" cy="2133600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4048200" cy="21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0"/>
              <a:ext cx="38100" cy="21336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171450" y="133350"/>
              <a:ext cx="37149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Feature Engineering &amp; Integration</a:t>
              </a:r>
              <a:endParaRPr b="0" sz="13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Customer Metrics: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Formulated key analytical variables including total order counts, average order value, and late-night ordering frequency.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Restaurant Metrics: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Computed operational indicators such as average meal preparation time and order cancellation rates.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Dataset Integration:</a:t>
              </a:r>
              <a:r>
                <a:rPr b="0" lang="en" sz="11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Merged engineered features into unified datasets for comprehensive, holistic EDA.</a:t>
              </a:r>
              <a:endParaRPr b="0" sz="11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381000" y="4057650"/>
            <a:ext cx="8382000" cy="571500"/>
            <a:chOff x="0" y="0"/>
            <a:chExt cx="8382000" cy="571500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0"/>
              <a:ext cx="57300" cy="571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209550" y="95250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Foundation Objective: Systematic pre-processing and validation guarantee that subsequent customer segmentation and predictive ML models are trained on a clean, robust, and reliable data foundation.</a:t>
              </a:r>
              <a:endParaRPr b="0" sz="11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223" name="Google Shape;223;p18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18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18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18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" name="Google Shape;227;p18"/>
          <p:cNvGrpSpPr/>
          <p:nvPr/>
        </p:nvGrpSpPr>
        <p:grpSpPr>
          <a:xfrm>
            <a:off x="381000" y="361950"/>
            <a:ext cx="266850" cy="266850"/>
            <a:chOff x="0" y="0"/>
            <a:chExt cx="266850" cy="266850"/>
          </a:xfrm>
        </p:grpSpPr>
        <p:sp>
          <p:nvSpPr>
            <p:cNvPr id="228" name="Google Shape;228;p18"/>
            <p:cNvSpPr/>
            <p:nvPr/>
          </p:nvSpPr>
          <p:spPr>
            <a:xfrm>
              <a:off x="0" y="0"/>
              <a:ext cx="133500" cy="13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133350" y="133350"/>
              <a:ext cx="133500" cy="133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18"/>
          <p:cNvSpPr txBox="1"/>
          <p:nvPr/>
        </p:nvSpPr>
        <p:spPr>
          <a:xfrm>
            <a:off x="762000" y="304800"/>
            <a:ext cx="8001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Marketplace Clustering: K-Means Segmentation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1" name="Google Shape;231;p18"/>
          <p:cNvCxnSpPr/>
          <p:nvPr/>
        </p:nvCxnSpPr>
        <p:spPr>
          <a:xfrm>
            <a:off x="381000" y="9048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2" name="Google Shape;2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66800"/>
            <a:ext cx="9600" cy="33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8"/>
          <p:cNvGrpSpPr/>
          <p:nvPr/>
        </p:nvGrpSpPr>
        <p:grpSpPr>
          <a:xfrm>
            <a:off x="381000" y="1066800"/>
            <a:ext cx="4000500" cy="3352875"/>
            <a:chOff x="381000" y="1066800"/>
            <a:chExt cx="4000500" cy="3352875"/>
          </a:xfrm>
        </p:grpSpPr>
        <p:sp>
          <p:nvSpPr>
            <p:cNvPr id="234" name="Google Shape;234;p18"/>
            <p:cNvSpPr txBox="1"/>
            <p:nvPr/>
          </p:nvSpPr>
          <p:spPr>
            <a:xfrm>
              <a:off x="381000" y="1066800"/>
              <a:ext cx="40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01 / CUSTOMER SEGMENTATION</a:t>
              </a:r>
              <a:endParaRPr b="0" sz="9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Behavioral Profile Clusters</a:t>
              </a:r>
              <a:endParaRPr b="0" sz="14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381000" y="1543050"/>
              <a:ext cx="1905000" cy="7143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6" name="Google Shape;236;p18"/>
            <p:cNvCxnSpPr/>
            <p:nvPr/>
          </p:nvCxnSpPr>
          <p:spPr>
            <a:xfrm>
              <a:off x="381000" y="154305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18"/>
            <p:cNvSpPr txBox="1"/>
            <p:nvPr/>
          </p:nvSpPr>
          <p:spPr>
            <a:xfrm>
              <a:off x="495300" y="1619250"/>
              <a:ext cx="16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</a:t>
              </a:r>
              <a:endParaRPr b="0" sz="259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Distinct Clusters</a:t>
              </a:r>
              <a:endParaRPr b="0" sz="786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2381250" y="1543050"/>
              <a:ext cx="2000100" cy="7143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9" name="Google Shape;239;p18"/>
            <p:cNvCxnSpPr/>
            <p:nvPr/>
          </p:nvCxnSpPr>
          <p:spPr>
            <a:xfrm>
              <a:off x="2381250" y="1543050"/>
              <a:ext cx="20001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5555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" name="Google Shape;240;p18"/>
            <p:cNvSpPr txBox="1"/>
            <p:nvPr/>
          </p:nvSpPr>
          <p:spPr>
            <a:xfrm>
              <a:off x="2495550" y="1619250"/>
              <a:ext cx="17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0.16</a:t>
              </a:r>
              <a:endParaRPr b="0" sz="259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Separation Score (Low)</a:t>
              </a:r>
              <a:endParaRPr b="0" sz="786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381000" y="2371725"/>
              <a:ext cx="40005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495300" y="2428875"/>
              <a:ext cx="3771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EVALUATED PURCHASE METRICS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Total Spending • Ordering Frequency • Avg Order Value</a:t>
              </a:r>
              <a:endParaRPr b="0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381000" y="3038475"/>
              <a:ext cx="4000500" cy="13812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381000" y="3038475"/>
              <a:ext cx="47700" cy="13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552450" y="3133725"/>
              <a:ext cx="36957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INTERPRETATION</a:t>
              </a:r>
              <a:endParaRPr b="0" sz="85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Low score indicates overlapping behavioral tendencies rather than strictly isolated groups.</a:t>
              </a:r>
              <a:endParaRPr b="0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These clusters should be interpreted as flexible </a:t>
              </a: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behavioral profiles</a:t>
              </a: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rather than hard categories.</a:t>
              </a:r>
              <a:endParaRPr b="0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8"/>
          <p:cNvGrpSpPr/>
          <p:nvPr/>
        </p:nvGrpSpPr>
        <p:grpSpPr>
          <a:xfrm>
            <a:off x="4762500" y="1066800"/>
            <a:ext cx="4000500" cy="3352875"/>
            <a:chOff x="4762500" y="1066800"/>
            <a:chExt cx="4000500" cy="3352875"/>
          </a:xfrm>
        </p:grpSpPr>
        <p:sp>
          <p:nvSpPr>
            <p:cNvPr id="247" name="Google Shape;247;p18"/>
            <p:cNvSpPr txBox="1"/>
            <p:nvPr/>
          </p:nvSpPr>
          <p:spPr>
            <a:xfrm>
              <a:off x="4762500" y="1066800"/>
              <a:ext cx="40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02 / RESTAURANT SEGMENTATION</a:t>
              </a:r>
              <a:endParaRPr b="0" sz="9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Operational Performance Groups</a:t>
              </a:r>
              <a:endParaRPr b="0" sz="140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4762500" y="1543050"/>
              <a:ext cx="1905000" cy="7143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9" name="Google Shape;249;p18"/>
            <p:cNvCxnSpPr/>
            <p:nvPr/>
          </p:nvCxnSpPr>
          <p:spPr>
            <a:xfrm>
              <a:off x="4762500" y="1543050"/>
              <a:ext cx="19050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0" name="Google Shape;250;p18"/>
            <p:cNvSpPr txBox="1"/>
            <p:nvPr/>
          </p:nvSpPr>
          <p:spPr>
            <a:xfrm>
              <a:off x="4876800" y="1619250"/>
              <a:ext cx="16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</a:t>
              </a:r>
              <a:endParaRPr b="0" sz="259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Distinct Clusters</a:t>
              </a:r>
              <a:endParaRPr b="0" sz="786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6762750" y="1543050"/>
              <a:ext cx="2000100" cy="7143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2" name="Google Shape;252;p18"/>
            <p:cNvCxnSpPr/>
            <p:nvPr/>
          </p:nvCxnSpPr>
          <p:spPr>
            <a:xfrm>
              <a:off x="6762750" y="1543050"/>
              <a:ext cx="20001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006C5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3" name="Google Shape;253;p18"/>
            <p:cNvSpPr txBox="1"/>
            <p:nvPr/>
          </p:nvSpPr>
          <p:spPr>
            <a:xfrm>
              <a:off x="6877050" y="1619250"/>
              <a:ext cx="17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0.26</a:t>
              </a:r>
              <a:endParaRPr b="0" sz="259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Separation Score (Moderate)</a:t>
              </a:r>
              <a:endParaRPr b="0" sz="786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4762500" y="2371725"/>
              <a:ext cx="4000500" cy="552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4876800" y="2428875"/>
              <a:ext cx="3771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EVALUATED OPERATIONAL METRICS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Avg Prep Time • Delivery Time • Cancellation Rates</a:t>
              </a:r>
              <a:endParaRPr b="0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4762500" y="3038475"/>
              <a:ext cx="4000500" cy="13812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4762500" y="3038475"/>
              <a:ext cx="47700" cy="13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4933950" y="3133725"/>
              <a:ext cx="36957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INTERPRETATION</a:t>
              </a:r>
              <a:endParaRPr b="0" sz="85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Groups are clearly differentiated based on preparation times and average customer ratings.</a:t>
              </a:r>
              <a:endParaRPr b="0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Provides a solid, actionable foundation for </a:t>
              </a:r>
              <a:r>
                <a:rPr b="1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targeted operational interventions</a:t>
              </a:r>
              <a:r>
                <a:rPr b="0" lang="en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59" name="Google Shape;259;p18"/>
          <p:cNvCxnSpPr/>
          <p:nvPr/>
        </p:nvCxnSpPr>
        <p:spPr>
          <a:xfrm>
            <a:off x="381000" y="45529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8"/>
          <p:cNvSpPr txBox="1"/>
          <p:nvPr/>
        </p:nvSpPr>
        <p:spPr>
          <a:xfrm>
            <a:off x="381000" y="4600575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555555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METHODOLOGY NOTE: Evaluated K-Means &amp; DBSCAN algorithms; final segmentation deployment relies on K-Means clustering.</a:t>
            </a:r>
            <a:endParaRPr b="0" sz="850">
              <a:solidFill>
                <a:srgbClr val="555555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267" name="Google Shape;267;p19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9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9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19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" name="Google Shape;271;p19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272" name="Google Shape;272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19"/>
          <p:cNvSpPr txBox="1"/>
          <p:nvPr/>
        </p:nvSpPr>
        <p:spPr>
          <a:xfrm>
            <a:off x="762000" y="3429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PCA Dimensionality Reduction &amp; Visualization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75" name="Google Shape;275;p19"/>
          <p:cNvCxnSpPr/>
          <p:nvPr/>
        </p:nvCxnSpPr>
        <p:spPr>
          <a:xfrm>
            <a:off x="381000" y="95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4572000" y="952500"/>
            <a:ext cx="0" cy="3810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19"/>
          <p:cNvGrpSpPr/>
          <p:nvPr/>
        </p:nvGrpSpPr>
        <p:grpSpPr>
          <a:xfrm>
            <a:off x="381000" y="1143000"/>
            <a:ext cx="4000500" cy="3429000"/>
            <a:chOff x="0" y="0"/>
            <a:chExt cx="4000500" cy="3429000"/>
          </a:xfrm>
        </p:grpSpPr>
        <p:sp>
          <p:nvSpPr>
            <p:cNvPr id="278" name="Google Shape;278;p19"/>
            <p:cNvSpPr txBox="1"/>
            <p:nvPr/>
          </p:nvSpPr>
          <p:spPr>
            <a:xfrm>
              <a:off x="0" y="0"/>
              <a:ext cx="4000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DIMENSIONALITY REDUCTION</a:t>
              </a:r>
              <a:endParaRPr b="0" sz="765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Projecting Complex Feature Sets to 2D</a:t>
              </a:r>
              <a:endParaRPr b="1" sz="136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To effectively interpret and present multidimensional clustering results, Principal Component Analysis (PCA) transforms high-dimensional data into Principal Component 1 (</a:t>
              </a:r>
              <a:r>
                <a:rPr b="1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PC1</a:t>
              </a:r>
              <a:r>
                <a:rPr b="0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) and Principal Component 2 (</a:t>
              </a:r>
              <a:r>
                <a:rPr b="1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PC2</a:t>
              </a:r>
              <a:r>
                <a:rPr b="0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This mapping projects data onto a 2D plane while retaining the maximum percentage of explained variance from the original dataset.</a:t>
              </a:r>
              <a:endParaRPr b="0" sz="93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9" name="Google Shape;279;p19"/>
            <p:cNvGrpSpPr/>
            <p:nvPr/>
          </p:nvGrpSpPr>
          <p:grpSpPr>
            <a:xfrm>
              <a:off x="0" y="1600200"/>
              <a:ext cx="4000500" cy="381000"/>
              <a:chOff x="0" y="0"/>
              <a:chExt cx="4000500" cy="381000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0" y="0"/>
                <a:ext cx="4000500" cy="3810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0" y="0"/>
                <a:ext cx="38100" cy="3810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 txBox="1"/>
              <p:nvPr/>
            </p:nvSpPr>
            <p:spPr>
              <a:xfrm>
                <a:off x="152400" y="95250"/>
                <a:ext cx="3714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75">
                    <a:solidFill>
                      <a:srgbClr val="006C5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PROJECTION:</a:t>
                </a:r>
                <a:r>
                  <a:rPr b="0" lang="en" sz="775">
                    <a:solidFill>
                      <a:srgbClr val="5555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[PC1, PC2] = PCA(n_components=2).fit(X_scaled)</a:t>
                </a:r>
                <a:endParaRPr b="0" sz="775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283" name="Google Shape;283;p19"/>
            <p:cNvGrpSpPr/>
            <p:nvPr/>
          </p:nvGrpSpPr>
          <p:grpSpPr>
            <a:xfrm>
              <a:off x="0" y="2133600"/>
              <a:ext cx="4000500" cy="1295400"/>
              <a:chOff x="0" y="0"/>
              <a:chExt cx="4000500" cy="1295400"/>
            </a:xfrm>
          </p:grpSpPr>
          <p:sp>
            <p:nvSpPr>
              <p:cNvPr id="284" name="Google Shape;284;p19"/>
              <p:cNvSpPr/>
              <p:nvPr/>
            </p:nvSpPr>
            <p:spPr>
              <a:xfrm>
                <a:off x="0" y="0"/>
                <a:ext cx="4000500" cy="1295400"/>
              </a:xfrm>
              <a:prstGeom prst="rect">
                <a:avLst/>
              </a:prstGeom>
              <a:solidFill>
                <a:srgbClr val="D1E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0" y="0"/>
                <a:ext cx="57300" cy="12954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 txBox="1"/>
              <p:nvPr/>
            </p:nvSpPr>
            <p:spPr>
              <a:xfrm>
                <a:off x="190500" y="133350"/>
                <a:ext cx="3667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65">
                    <a:solidFill>
                      <a:srgbClr val="006C5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CRITICAL METHODOLOGICAL NOTE</a:t>
                </a:r>
                <a:endParaRPr b="0" sz="765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935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Visualization Tool vs. Cluster Generator</a:t>
                </a:r>
                <a:endParaRPr b="1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PCA is employed strictly as a tool for visualization and projection—it is </a:t>
                </a:r>
                <a:r>
                  <a:rPr b="1" lang="en" sz="8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not responsible for cluster generation</a:t>
                </a:r>
                <a:r>
                  <a:rPr b="0" lang="en" sz="85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. Actual grouping was determined by distance-based K-Means on the fully scaled, high-dimensional feature set. PCA merely provides a simplified visual proxy for evaluation.</a:t>
                </a:r>
                <a:endParaRPr b="0" sz="8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7" name="Google Shape;287;p19"/>
          <p:cNvGrpSpPr/>
          <p:nvPr/>
        </p:nvGrpSpPr>
        <p:grpSpPr>
          <a:xfrm>
            <a:off x="4762500" y="1143000"/>
            <a:ext cx="4000500" cy="1638300"/>
            <a:chOff x="0" y="0"/>
            <a:chExt cx="4000500" cy="1638300"/>
          </a:xfrm>
        </p:grpSpPr>
        <p:sp>
          <p:nvSpPr>
            <p:cNvPr id="288" name="Google Shape;288;p19"/>
            <p:cNvSpPr/>
            <p:nvPr/>
          </p:nvSpPr>
          <p:spPr>
            <a:xfrm>
              <a:off x="0" y="0"/>
              <a:ext cx="4000500" cy="1638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142875" y="95250"/>
              <a:ext cx="3714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CUSTOMER CLUSTERS (PC1 vs PC2)</a:t>
              </a:r>
              <a:endParaRPr b="1" sz="9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90" name="Google Shape;290;p19"/>
            <p:cNvCxnSpPr/>
            <p:nvPr/>
          </p:nvCxnSpPr>
          <p:spPr>
            <a:xfrm>
              <a:off x="428625" y="1352550"/>
              <a:ext cx="328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19"/>
            <p:cNvCxnSpPr/>
            <p:nvPr/>
          </p:nvCxnSpPr>
          <p:spPr>
            <a:xfrm>
              <a:off x="428625" y="333375"/>
              <a:ext cx="0" cy="1019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2" name="Google Shape;292;p19"/>
            <p:cNvSpPr txBox="1"/>
            <p:nvPr/>
          </p:nvSpPr>
          <p:spPr>
            <a:xfrm>
              <a:off x="3733800" y="1276350"/>
              <a:ext cx="238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PC1</a:t>
              </a:r>
              <a:endParaRPr b="1" sz="8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361950" y="190500"/>
              <a:ext cx="238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PC2</a:t>
              </a:r>
              <a:endParaRPr b="1" sz="8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294" name="Google Shape;29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9613" y="595313"/>
              <a:ext cx="6762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9"/>
            <p:cNvSpPr/>
            <p:nvPr/>
          </p:nvSpPr>
          <p:spPr>
            <a:xfrm>
              <a:off x="876300" y="73342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019175" y="876300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1114425" y="71437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971550" y="80962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1162050" y="781050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828675" y="84772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1" name="Google Shape;30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28788" y="757238"/>
              <a:ext cx="7335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19"/>
            <p:cNvSpPr/>
            <p:nvPr/>
          </p:nvSpPr>
          <p:spPr>
            <a:xfrm>
              <a:off x="1924050" y="92392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114550" y="1066800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2209800" y="92392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1971675" y="101917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162175" y="876300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1876425" y="103822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8" name="Google Shape;30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09863" y="500063"/>
              <a:ext cx="676200" cy="4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19"/>
            <p:cNvSpPr/>
            <p:nvPr/>
          </p:nvSpPr>
          <p:spPr>
            <a:xfrm>
              <a:off x="2876550" y="63817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3067050" y="75247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3162300" y="61912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2971800" y="71437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3114675" y="65722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2828925" y="73342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447675" y="1466850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552450" y="1438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Cluster A</a:t>
              </a:r>
              <a:endParaRPr b="0" sz="75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1400175" y="1466850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1504950" y="1438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Cluster B</a:t>
              </a:r>
              <a:endParaRPr b="0" sz="75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2352675" y="1466850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 txBox="1"/>
            <p:nvPr/>
          </p:nvSpPr>
          <p:spPr>
            <a:xfrm>
              <a:off x="2457450" y="1438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1111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Cluster C</a:t>
              </a:r>
              <a:endParaRPr b="0" sz="750">
                <a:solidFill>
                  <a:srgbClr val="11111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21" name="Google Shape;321;p19"/>
          <p:cNvGrpSpPr/>
          <p:nvPr/>
        </p:nvGrpSpPr>
        <p:grpSpPr>
          <a:xfrm>
            <a:off x="4762500" y="2933700"/>
            <a:ext cx="4000500" cy="1638300"/>
            <a:chOff x="0" y="0"/>
            <a:chExt cx="4000500" cy="1638300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4000500" cy="1638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 txBox="1"/>
            <p:nvPr/>
          </p:nvSpPr>
          <p:spPr>
            <a:xfrm>
              <a:off x="142875" y="95250"/>
              <a:ext cx="3714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RESTAURANT CLUSTERS (PC1 vs PC2)</a:t>
              </a:r>
              <a:endParaRPr b="1" sz="9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24" name="Google Shape;324;p19"/>
            <p:cNvCxnSpPr/>
            <p:nvPr/>
          </p:nvCxnSpPr>
          <p:spPr>
            <a:xfrm>
              <a:off x="428625" y="1352550"/>
              <a:ext cx="328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19"/>
            <p:cNvCxnSpPr/>
            <p:nvPr/>
          </p:nvCxnSpPr>
          <p:spPr>
            <a:xfrm>
              <a:off x="428625" y="333375"/>
              <a:ext cx="0" cy="1019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111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6" name="Google Shape;326;p19"/>
            <p:cNvSpPr txBox="1"/>
            <p:nvPr/>
          </p:nvSpPr>
          <p:spPr>
            <a:xfrm>
              <a:off x="3733800" y="1276350"/>
              <a:ext cx="238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PC1</a:t>
              </a:r>
              <a:endParaRPr b="1" sz="8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27" name="Google Shape;327;p19"/>
            <p:cNvSpPr txBox="1"/>
            <p:nvPr/>
          </p:nvSpPr>
          <p:spPr>
            <a:xfrm>
              <a:off x="361950" y="190500"/>
              <a:ext cx="238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PC2</a:t>
              </a:r>
              <a:endParaRPr b="1" sz="800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328" name="Google Shape;328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5813" y="471488"/>
              <a:ext cx="6192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9"/>
            <p:cNvSpPr/>
            <p:nvPr/>
          </p:nvSpPr>
          <p:spPr>
            <a:xfrm>
              <a:off x="923925" y="63817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1066800" y="781050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1162050" y="61912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1019175" y="71437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1181100" y="657225"/>
              <a:ext cx="57300" cy="57300"/>
            </a:xfrm>
            <a:prstGeom prst="ellipse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4" name="Google Shape;33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76413" y="709613"/>
              <a:ext cx="733500" cy="3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9"/>
            <p:cNvSpPr/>
            <p:nvPr/>
          </p:nvSpPr>
          <p:spPr>
            <a:xfrm>
              <a:off x="1971675" y="82867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2162175" y="94297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2257425" y="82867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2019300" y="90487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2209800" y="809625"/>
              <a:ext cx="57300" cy="573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0" name="Google Shape;34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86063" y="328613"/>
              <a:ext cx="6192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19"/>
            <p:cNvSpPr/>
            <p:nvPr/>
          </p:nvSpPr>
          <p:spPr>
            <a:xfrm>
              <a:off x="2924175" y="46672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3086100" y="61912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3181350" y="44767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2990850" y="561975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3143250" y="495300"/>
              <a:ext cx="57300" cy="57300"/>
            </a:xfrm>
            <a:prstGeom prst="ellipse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428625" y="1428750"/>
              <a:ext cx="32385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81">
                  <a:solidFill>
                    <a:srgbClr val="5555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2D Visual projection of high-dimensional K-Means clusters &amp; separation</a:t>
              </a:r>
              <a:endParaRPr b="0" sz="581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352" name="Google Shape;352;p20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3" name="Google Shape;353;p20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20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20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6" name="Google Shape;356;p20"/>
          <p:cNvGrpSpPr/>
          <p:nvPr/>
        </p:nvGrpSpPr>
        <p:grpSpPr>
          <a:xfrm>
            <a:off x="381000" y="304800"/>
            <a:ext cx="304800" cy="304800"/>
            <a:chOff x="0" y="0"/>
            <a:chExt cx="304800" cy="304800"/>
          </a:xfrm>
        </p:grpSpPr>
        <p:sp>
          <p:nvSpPr>
            <p:cNvPr id="357" name="Google Shape;357;p20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20"/>
          <p:cNvSpPr txBox="1"/>
          <p:nvPr/>
        </p:nvSpPr>
        <p:spPr>
          <a:xfrm>
            <a:off x="762000" y="2286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Customer Feedback Analysis &amp; Sentiment Modeling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0" name="Google Shape;360;p20"/>
          <p:cNvCxnSpPr/>
          <p:nvPr/>
        </p:nvCxnSpPr>
        <p:spPr>
          <a:xfrm>
            <a:off x="381000" y="8001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0"/>
          <p:cNvCxnSpPr/>
          <p:nvPr/>
        </p:nvCxnSpPr>
        <p:spPr>
          <a:xfrm>
            <a:off x="4572000" y="800100"/>
            <a:ext cx="0" cy="38673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2" name="Google Shape;362;p20"/>
          <p:cNvGrpSpPr/>
          <p:nvPr/>
        </p:nvGrpSpPr>
        <p:grpSpPr>
          <a:xfrm>
            <a:off x="381000" y="952500"/>
            <a:ext cx="4000500" cy="3571950"/>
            <a:chOff x="0" y="0"/>
            <a:chExt cx="4000500" cy="3571950"/>
          </a:xfrm>
        </p:grpSpPr>
        <p:sp>
          <p:nvSpPr>
            <p:cNvPr id="363" name="Google Shape;363;p20"/>
            <p:cNvSpPr txBox="1"/>
            <p:nvPr/>
          </p:nvSpPr>
          <p:spPr>
            <a:xfrm>
              <a:off x="0" y="0"/>
              <a:ext cx="400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NLP Methodology &amp; Classification</a:t>
              </a:r>
              <a:endParaRPr b="0" sz="13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64" name="Google Shape;364;p20"/>
            <p:cNvSpPr txBox="1"/>
            <p:nvPr/>
          </p:nvSpPr>
          <p:spPr>
            <a:xfrm>
              <a:off x="0" y="266700"/>
              <a:ext cx="4000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7498" lvl="0" marL="457200" rtl="0" algn="l">
                <a:spcBef>
                  <a:spcPts val="0"/>
                </a:spcBef>
                <a:spcAft>
                  <a:spcPts val="0"/>
                </a:spcAft>
                <a:buSzPts val="1085"/>
                <a:buChar char="●"/>
              </a:pPr>
              <a:r>
                <a:rPr b="1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Preprocessing &amp; Vectorization:</a:t>
              </a:r>
              <a:r>
                <a:rPr b="0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Extensive text preprocessing followed by TF-IDF vectorization to map text into numerical features.</a:t>
              </a:r>
              <a:endParaRPr b="0" sz="81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7498" lvl="0" marL="457200" rtl="0" algn="l">
                <a:spcBef>
                  <a:spcPts val="450"/>
                </a:spcBef>
                <a:spcAft>
                  <a:spcPts val="0"/>
                </a:spcAft>
                <a:buSzPts val="1085"/>
                <a:buChar char="●"/>
              </a:pPr>
              <a:r>
                <a:rPr b="1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Model Comparison:</a:t>
              </a:r>
              <a:r>
                <a:rPr b="0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Naive Bayes vs. Logistic Regression evaluated on accuracy, precision, recall, F1-score, and confusion matrix.</a:t>
              </a:r>
              <a:endParaRPr b="0" sz="81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7498" lvl="0" marL="457200" rtl="0" algn="l">
                <a:spcBef>
                  <a:spcPts val="450"/>
                </a:spcBef>
                <a:spcAft>
                  <a:spcPts val="450"/>
                </a:spcAft>
                <a:buSzPts val="1085"/>
                <a:buChar char="●"/>
              </a:pPr>
              <a:r>
                <a:rPr b="1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Model Selection:</a:t>
              </a:r>
              <a:r>
                <a:rPr b="0" lang="en" sz="814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Naive Bayes selected for sentiment classification.</a:t>
              </a:r>
              <a:endParaRPr b="0" sz="814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5" name="Google Shape;365;p20"/>
            <p:cNvGrpSpPr/>
            <p:nvPr/>
          </p:nvGrpSpPr>
          <p:grpSpPr>
            <a:xfrm>
              <a:off x="0" y="1619250"/>
              <a:ext cx="4000500" cy="1952700"/>
              <a:chOff x="0" y="0"/>
              <a:chExt cx="4000500" cy="1952700"/>
            </a:xfrm>
          </p:grpSpPr>
          <p:sp>
            <p:nvSpPr>
              <p:cNvPr id="366" name="Google Shape;366;p20"/>
              <p:cNvSpPr/>
              <p:nvPr/>
            </p:nvSpPr>
            <p:spPr>
              <a:xfrm>
                <a:off x="0" y="0"/>
                <a:ext cx="4000500" cy="19527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/>
              <p:nvPr/>
            </p:nvSpPr>
            <p:spPr>
              <a:xfrm>
                <a:off x="0" y="0"/>
                <a:ext cx="38100" cy="19527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0"/>
              <p:cNvSpPr txBox="1"/>
              <p:nvPr/>
            </p:nvSpPr>
            <p:spPr>
              <a:xfrm>
                <a:off x="152400" y="133350"/>
                <a:ext cx="3695700" cy="16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Critical Note: Score Inflation</a:t>
                </a:r>
                <a:endParaRPr b="1" sz="10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Evaluation metrics exhibit significant inflation, with both models classifying nearly </a:t>
                </a:r>
                <a:r>
                  <a:rPr b="1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100% of test reviews correctly</a:t>
                </a:r>
                <a:r>
                  <a:rPr b="0" lang="en" sz="10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0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Primary Root Causes: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3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Synthetic dataset relies heavily on repeated review templates.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450"/>
                  </a:spcBef>
                  <a:spcAft>
                    <a:spcPts val="450"/>
                  </a:spcAft>
                  <a:buSzPts val="1400"/>
                  <a:buChar char="●"/>
                </a:pPr>
                <a: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Sentiment labels are derived directly from star ratings.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69" name="Google Shape;369;p20"/>
          <p:cNvGrpSpPr/>
          <p:nvPr/>
        </p:nvGrpSpPr>
        <p:grpSpPr>
          <a:xfrm>
            <a:off x="4762500" y="952500"/>
            <a:ext cx="4000650" cy="3543300"/>
            <a:chOff x="0" y="0"/>
            <a:chExt cx="4000650" cy="3543300"/>
          </a:xfrm>
        </p:grpSpPr>
        <p:sp>
          <p:nvSpPr>
            <p:cNvPr id="370" name="Google Shape;370;p20"/>
            <p:cNvSpPr txBox="1"/>
            <p:nvPr/>
          </p:nvSpPr>
          <p:spPr>
            <a:xfrm>
              <a:off x="0" y="0"/>
              <a:ext cx="400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Thematic Analysis of Negative Reviews</a:t>
              </a:r>
              <a:endParaRPr b="0" sz="13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71" name="Google Shape;371;p20"/>
            <p:cNvSpPr txBox="1"/>
            <p:nvPr/>
          </p:nvSpPr>
          <p:spPr>
            <a:xfrm>
              <a:off x="0" y="26670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Analysis of </a:t>
              </a:r>
              <a:r>
                <a:rPr b="1" lang="en" sz="9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274 negative reviews</a:t>
              </a:r>
              <a:r>
                <a:rPr b="0" lang="en" sz="97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revealed three primary complaint drivers across general satisfaction, delivery speed, and food quality:</a:t>
              </a:r>
              <a:endParaRPr b="0" sz="97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2" name="Google Shape;372;p20"/>
            <p:cNvGrpSpPr/>
            <p:nvPr/>
          </p:nvGrpSpPr>
          <p:grpSpPr>
            <a:xfrm>
              <a:off x="0" y="2019300"/>
              <a:ext cx="4000650" cy="1524000"/>
              <a:chOff x="0" y="0"/>
              <a:chExt cx="4000650" cy="1524000"/>
            </a:xfrm>
          </p:grpSpPr>
          <p:grpSp>
            <p:nvGrpSpPr>
              <p:cNvPr id="373" name="Google Shape;373;p20"/>
              <p:cNvGrpSpPr/>
              <p:nvPr/>
            </p:nvGrpSpPr>
            <p:grpSpPr>
              <a:xfrm>
                <a:off x="0" y="0"/>
                <a:ext cx="1266900" cy="1524000"/>
                <a:chOff x="0" y="0"/>
                <a:chExt cx="1266900" cy="1524000"/>
              </a:xfrm>
            </p:grpSpPr>
            <p:sp>
              <p:nvSpPr>
                <p:cNvPr id="374" name="Google Shape;374;p20"/>
                <p:cNvSpPr/>
                <p:nvPr/>
              </p:nvSpPr>
              <p:spPr>
                <a:xfrm>
                  <a:off x="0" y="0"/>
                  <a:ext cx="1266900" cy="1524000"/>
                </a:xfrm>
                <a:prstGeom prst="rect">
                  <a:avLst/>
                </a:prstGeom>
                <a:solidFill>
                  <a:srgbClr val="EAEAE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20"/>
                <p:cNvSpPr/>
                <p:nvPr/>
              </p:nvSpPr>
              <p:spPr>
                <a:xfrm>
                  <a:off x="0" y="0"/>
                  <a:ext cx="1266900" cy="28500"/>
                </a:xfrm>
                <a:prstGeom prst="rect">
                  <a:avLst/>
                </a:prstGeom>
                <a:solidFill>
                  <a:srgbClr val="11111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20"/>
                <p:cNvSpPr txBox="1"/>
                <p:nvPr/>
              </p:nvSpPr>
              <p:spPr>
                <a:xfrm>
                  <a:off x="114300" y="133350"/>
                  <a:ext cx="1038300" cy="1257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2200">
                      <a:solidFill>
                        <a:srgbClr val="111111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37%</a:t>
                  </a:r>
                  <a:endParaRPr b="0" sz="220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55555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102 Reviews</a:t>
                  </a:r>
                  <a:endParaRPr b="0" sz="850">
                    <a:solidFill>
                      <a:srgbClr val="5555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111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General Dissatisfaction</a:t>
                  </a:r>
                  <a:endParaRPr b="0" sz="95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377" name="Google Shape;377;p20"/>
              <p:cNvGrpSpPr/>
              <p:nvPr/>
            </p:nvGrpSpPr>
            <p:grpSpPr>
              <a:xfrm>
                <a:off x="1362075" y="0"/>
                <a:ext cx="1266900" cy="1524000"/>
                <a:chOff x="0" y="0"/>
                <a:chExt cx="1266900" cy="1524000"/>
              </a:xfrm>
            </p:grpSpPr>
            <p:sp>
              <p:nvSpPr>
                <p:cNvPr id="378" name="Google Shape;378;p20"/>
                <p:cNvSpPr/>
                <p:nvPr/>
              </p:nvSpPr>
              <p:spPr>
                <a:xfrm>
                  <a:off x="0" y="0"/>
                  <a:ext cx="1266900" cy="1524000"/>
                </a:xfrm>
                <a:prstGeom prst="rect">
                  <a:avLst/>
                </a:prstGeom>
                <a:solidFill>
                  <a:srgbClr val="D1E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" name="Google Shape;379;p20"/>
                <p:cNvSpPr/>
                <p:nvPr/>
              </p:nvSpPr>
              <p:spPr>
                <a:xfrm>
                  <a:off x="0" y="0"/>
                  <a:ext cx="1266900" cy="28500"/>
                </a:xfrm>
                <a:prstGeom prst="rect">
                  <a:avLst/>
                </a:prstGeom>
                <a:solidFill>
                  <a:srgbClr val="006C5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" name="Google Shape;380;p20"/>
                <p:cNvSpPr txBox="1"/>
                <p:nvPr/>
              </p:nvSpPr>
              <p:spPr>
                <a:xfrm>
                  <a:off x="114300" y="133350"/>
                  <a:ext cx="1038300" cy="1257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2200">
                      <a:solidFill>
                        <a:srgbClr val="006C5B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35%</a:t>
                  </a:r>
                  <a:endParaRPr b="0" sz="2200">
                    <a:solidFill>
                      <a:srgbClr val="006C5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006C5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96 Reviews</a:t>
                  </a:r>
                  <a:endParaRPr b="0" sz="850">
                    <a:solidFill>
                      <a:srgbClr val="006C5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111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Delivery Speed Issues</a:t>
                  </a:r>
                  <a:endParaRPr b="0" sz="95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381" name="Google Shape;381;p20"/>
              <p:cNvGrpSpPr/>
              <p:nvPr/>
            </p:nvGrpSpPr>
            <p:grpSpPr>
              <a:xfrm>
                <a:off x="2724150" y="0"/>
                <a:ext cx="1276500" cy="1524000"/>
                <a:chOff x="0" y="0"/>
                <a:chExt cx="1276500" cy="1524000"/>
              </a:xfrm>
            </p:grpSpPr>
            <p:sp>
              <p:nvSpPr>
                <p:cNvPr id="382" name="Google Shape;382;p20"/>
                <p:cNvSpPr/>
                <p:nvPr/>
              </p:nvSpPr>
              <p:spPr>
                <a:xfrm>
                  <a:off x="0" y="0"/>
                  <a:ext cx="1276500" cy="1524000"/>
                </a:xfrm>
                <a:prstGeom prst="rect">
                  <a:avLst/>
                </a:prstGeom>
                <a:solidFill>
                  <a:srgbClr val="D1E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20"/>
                <p:cNvSpPr/>
                <p:nvPr/>
              </p:nvSpPr>
              <p:spPr>
                <a:xfrm>
                  <a:off x="0" y="0"/>
                  <a:ext cx="1276500" cy="28500"/>
                </a:xfrm>
                <a:prstGeom prst="rect">
                  <a:avLst/>
                </a:prstGeom>
                <a:solidFill>
                  <a:srgbClr val="006C5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20"/>
                <p:cNvSpPr txBox="1"/>
                <p:nvPr/>
              </p:nvSpPr>
              <p:spPr>
                <a:xfrm>
                  <a:off x="114300" y="133350"/>
                  <a:ext cx="1047900" cy="1257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2200">
                      <a:solidFill>
                        <a:srgbClr val="006C5B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28%</a:t>
                  </a:r>
                  <a:endParaRPr b="0" sz="2200">
                    <a:solidFill>
                      <a:srgbClr val="006C5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  <a:p>
                  <a:pPr indent="0" lvl="0" marL="0" rtl="0" algn="l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006C5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76 Reviews</a:t>
                  </a:r>
                  <a:endParaRPr b="0" sz="850">
                    <a:solidFill>
                      <a:srgbClr val="006C5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111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Food Quality Problems</a:t>
                  </a:r>
                  <a:endParaRPr b="0" sz="95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391" name="Google Shape;391;p21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21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21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21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5" name="Google Shape;395;p21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396" name="Google Shape;396;p21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1"/>
          <p:cNvSpPr txBox="1"/>
          <p:nvPr/>
        </p:nvSpPr>
        <p:spPr>
          <a:xfrm>
            <a:off x="762000" y="3619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 Evaluation &amp; Selection</a:t>
            </a:r>
            <a:endParaRPr b="1" sz="2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9" name="Google Shape;399;p21"/>
          <p:cNvCxnSpPr/>
          <p:nvPr/>
        </p:nvCxnSpPr>
        <p:spPr>
          <a:xfrm>
            <a:off x="381000" y="95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0" name="Google Shape;400;p21"/>
          <p:cNvGrpSpPr/>
          <p:nvPr/>
        </p:nvGrpSpPr>
        <p:grpSpPr>
          <a:xfrm>
            <a:off x="381000" y="1143000"/>
            <a:ext cx="3619500" cy="3429000"/>
            <a:chOff x="0" y="0"/>
            <a:chExt cx="3619500" cy="3429000"/>
          </a:xfrm>
        </p:grpSpPr>
        <p:sp>
          <p:nvSpPr>
            <p:cNvPr id="401" name="Google Shape;401;p21"/>
            <p:cNvSpPr txBox="1"/>
            <p:nvPr/>
          </p:nvSpPr>
          <p:spPr>
            <a:xfrm>
              <a:off x="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To proactively manage customer expectations, a supervised machine learning model was developed with </a:t>
              </a:r>
              <a:r>
                <a:rPr b="1" lang="en" sz="925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delivery_time_minutes</a:t>
              </a:r>
              <a:r>
                <a:rPr b="0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as the primary target variable.</a:t>
              </a:r>
              <a:endParaRPr b="0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Multiple regression models were trained and evaluated against a baseline average model.</a:t>
              </a:r>
              <a:endParaRPr b="0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02" name="Google Shape;402;p21"/>
            <p:cNvGrpSpPr/>
            <p:nvPr/>
          </p:nvGrpSpPr>
          <p:grpSpPr>
            <a:xfrm>
              <a:off x="0" y="1143000"/>
              <a:ext cx="3619500" cy="2286000"/>
              <a:chOff x="0" y="0"/>
              <a:chExt cx="3619500" cy="2286000"/>
            </a:xfrm>
          </p:grpSpPr>
          <p:sp>
            <p:nvSpPr>
              <p:cNvPr id="403" name="Google Shape;403;p21"/>
              <p:cNvSpPr/>
              <p:nvPr/>
            </p:nvSpPr>
            <p:spPr>
              <a:xfrm>
                <a:off x="0" y="0"/>
                <a:ext cx="3619500" cy="2286000"/>
              </a:xfrm>
              <a:prstGeom prst="rect">
                <a:avLst/>
              </a:prstGeom>
              <a:solidFill>
                <a:srgbClr val="D1E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0" y="0"/>
                <a:ext cx="57300" cy="22860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1"/>
              <p:cNvSpPr txBox="1"/>
              <p:nvPr/>
            </p:nvSpPr>
            <p:spPr>
              <a:xfrm>
                <a:off x="190500" y="152400"/>
                <a:ext cx="3238500" cy="19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006C5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Optimal Selection Rationale</a:t>
                </a:r>
                <a:endParaRPr b="0" sz="925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295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Ridge Regression</a:t>
                </a:r>
                <a:endParaRPr b="1" sz="129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Selected as the optimal model, explaining </a:t>
                </a:r>
                <a:r>
                  <a:rPr b="1" lang="en" sz="1018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94.4% of the variation</a:t>
                </a: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in delivery times.</a:t>
                </a:r>
                <a:endParaRPr b="0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b="0" lang="en" sz="1018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Superior Accuracy:</a:t>
                </a: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Achieved lowest MAE (3.23 min) and RMSE (4.11).</a:t>
                </a:r>
                <a:endParaRPr b="0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b="0" lang="en" sz="1018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 Stability:</a:t>
                </a: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Consistent under cross-validation compared to Random Forest.</a:t>
                </a:r>
                <a:endParaRPr b="0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b="0" lang="en" sz="1018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Interpretability:</a:t>
                </a:r>
                <a:r>
                  <a:rPr b="0" lang="en" sz="1018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Retains feature importance transparency.</a:t>
                </a:r>
                <a:endParaRPr b="0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406" name="Google Shape;406;p21"/>
          <p:cNvCxnSpPr/>
          <p:nvPr/>
        </p:nvCxnSpPr>
        <p:spPr>
          <a:xfrm>
            <a:off x="4286250" y="1143000"/>
            <a:ext cx="0" cy="3429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7" name="Google Shape;407;p21"/>
          <p:cNvGrpSpPr/>
          <p:nvPr/>
        </p:nvGrpSpPr>
        <p:grpSpPr>
          <a:xfrm>
            <a:off x="4572000" y="1143000"/>
            <a:ext cx="4191000" cy="3333750"/>
            <a:chOff x="0" y="0"/>
            <a:chExt cx="4191000" cy="3333750"/>
          </a:xfrm>
        </p:grpSpPr>
        <p:sp>
          <p:nvSpPr>
            <p:cNvPr id="408" name="Google Shape;408;p21"/>
            <p:cNvSpPr/>
            <p:nvPr/>
          </p:nvSpPr>
          <p:spPr>
            <a:xfrm>
              <a:off x="0" y="0"/>
              <a:ext cx="4191000" cy="3429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152400" y="0"/>
              <a:ext cx="1333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1524000" y="0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MAE (min)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2381250" y="0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RMSE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3238500" y="0"/>
              <a:ext cx="76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R²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3" name="Google Shape;413;p21"/>
            <p:cNvGrpSpPr/>
            <p:nvPr/>
          </p:nvGrpSpPr>
          <p:grpSpPr>
            <a:xfrm>
              <a:off x="0" y="400050"/>
              <a:ext cx="4191000" cy="514500"/>
              <a:chOff x="0" y="0"/>
              <a:chExt cx="4191000" cy="514500"/>
            </a:xfrm>
          </p:grpSpPr>
          <p:sp>
            <p:nvSpPr>
              <p:cNvPr id="414" name="Google Shape;414;p21"/>
              <p:cNvSpPr/>
              <p:nvPr/>
            </p:nvSpPr>
            <p:spPr>
              <a:xfrm>
                <a:off x="0" y="0"/>
                <a:ext cx="4191000" cy="514500"/>
              </a:xfrm>
              <a:prstGeom prst="rect">
                <a:avLst/>
              </a:prstGeom>
              <a:solidFill>
                <a:srgbClr val="D1E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152400" y="76200"/>
                <a:ext cx="609600" cy="152400"/>
              </a:xfrm>
              <a:prstGeom prst="roundRect">
                <a:avLst>
                  <a:gd fmla="val 12500" name="adj"/>
                </a:avLst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1"/>
              <p:cNvSpPr txBox="1"/>
              <p:nvPr/>
            </p:nvSpPr>
            <p:spPr>
              <a:xfrm>
                <a:off x="152400" y="76200"/>
                <a:ext cx="609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SELECTED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21"/>
              <p:cNvSpPr txBox="1"/>
              <p:nvPr/>
            </p:nvSpPr>
            <p:spPr>
              <a:xfrm>
                <a:off x="152400" y="247650"/>
                <a:ext cx="1333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Ridge Regression</a:t>
                </a:r>
                <a:endParaRPr b="1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21"/>
              <p:cNvSpPr txBox="1"/>
              <p:nvPr/>
            </p:nvSpPr>
            <p:spPr>
              <a:xfrm>
                <a:off x="1524000" y="142875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3.23</a:t>
                </a:r>
                <a:endParaRPr b="1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21"/>
              <p:cNvSpPr txBox="1"/>
              <p:nvPr/>
            </p:nvSpPr>
            <p:spPr>
              <a:xfrm>
                <a:off x="2381250" y="142875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4.11</a:t>
                </a:r>
                <a:endParaRPr b="1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21"/>
              <p:cNvSpPr txBox="1"/>
              <p:nvPr/>
            </p:nvSpPr>
            <p:spPr>
              <a:xfrm>
                <a:off x="3238500" y="142875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6C5B"/>
                    </a:solidFill>
                    <a:latin typeface="Inter"/>
                    <a:ea typeface="Inter"/>
                    <a:cs typeface="Inter"/>
                    <a:sym typeface="Inter"/>
                  </a:rPr>
                  <a:t>0.944</a:t>
                </a:r>
                <a:endParaRPr b="1" sz="11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2" name="Google Shape;422;p21"/>
            <p:cNvGrpSpPr/>
            <p:nvPr/>
          </p:nvGrpSpPr>
          <p:grpSpPr>
            <a:xfrm>
              <a:off x="0" y="971550"/>
              <a:ext cx="4191000" cy="419100"/>
              <a:chOff x="0" y="0"/>
              <a:chExt cx="4191000" cy="419100"/>
            </a:xfrm>
          </p:grpSpPr>
          <p:sp>
            <p:nvSpPr>
              <p:cNvPr id="423" name="Google Shape;423;p21"/>
              <p:cNvSpPr/>
              <p:nvPr/>
            </p:nvSpPr>
            <p:spPr>
              <a:xfrm>
                <a:off x="0" y="0"/>
                <a:ext cx="4191000" cy="419100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1"/>
              <p:cNvSpPr txBox="1"/>
              <p:nvPr/>
            </p:nvSpPr>
            <p:spPr>
              <a:xfrm>
                <a:off x="152400" y="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Lasso Regression</a:t>
                </a:r>
                <a:endParaRPr b="0" sz="11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25" name="Google Shape;425;p21"/>
              <p:cNvSpPr txBox="1"/>
              <p:nvPr/>
            </p:nvSpPr>
            <p:spPr>
              <a:xfrm>
                <a:off x="152400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3.24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21"/>
              <p:cNvSpPr txBox="1"/>
              <p:nvPr/>
            </p:nvSpPr>
            <p:spPr>
              <a:xfrm>
                <a:off x="238125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4.12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21"/>
              <p:cNvSpPr txBox="1"/>
              <p:nvPr/>
            </p:nvSpPr>
            <p:spPr>
              <a:xfrm>
                <a:off x="323850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0.943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8" name="Google Shape;428;p21"/>
            <p:cNvGrpSpPr/>
            <p:nvPr/>
          </p:nvGrpSpPr>
          <p:grpSpPr>
            <a:xfrm>
              <a:off x="0" y="1447800"/>
              <a:ext cx="4191000" cy="514500"/>
              <a:chOff x="0" y="0"/>
              <a:chExt cx="4191000" cy="514500"/>
            </a:xfrm>
          </p:grpSpPr>
          <p:sp>
            <p:nvSpPr>
              <p:cNvPr id="429" name="Google Shape;429;p21"/>
              <p:cNvSpPr/>
              <p:nvPr/>
            </p:nvSpPr>
            <p:spPr>
              <a:xfrm>
                <a:off x="0" y="0"/>
                <a:ext cx="4191000" cy="514500"/>
              </a:xfrm>
              <a:prstGeom prst="rect">
                <a:avLst/>
              </a:prstGeom>
              <a:solidFill>
                <a:srgbClr val="F7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30" name="Google Shape;430;p21"/>
              <p:cNvCxnSpPr/>
              <p:nvPr/>
            </p:nvCxnSpPr>
            <p:spPr>
              <a:xfrm>
                <a:off x="0" y="514350"/>
                <a:ext cx="419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1" name="Google Shape;431;p21"/>
              <p:cNvSpPr txBox="1"/>
              <p:nvPr/>
            </p:nvSpPr>
            <p:spPr>
              <a:xfrm>
                <a:off x="152400" y="57150"/>
                <a:ext cx="1333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Random Forest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2" name="Google Shape;432;p21"/>
              <p:cNvSpPr txBox="1"/>
              <p:nvPr/>
            </p:nvSpPr>
            <p:spPr>
              <a:xfrm>
                <a:off x="152400" y="266700"/>
                <a:ext cx="1333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A04000"/>
                    </a:solidFill>
                    <a:latin typeface="Inter"/>
                    <a:ea typeface="Inter"/>
                    <a:cs typeface="Inter"/>
                    <a:sym typeface="Inter"/>
                  </a:rPr>
                  <a:t>(Overfitting tendencies)</a:t>
                </a:r>
                <a:endParaRPr sz="800">
                  <a:solidFill>
                    <a:srgbClr val="A04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3" name="Google Shape;433;p21"/>
              <p:cNvSpPr txBox="1"/>
              <p:nvPr/>
            </p:nvSpPr>
            <p:spPr>
              <a:xfrm>
                <a:off x="1524000" y="0"/>
                <a:ext cx="762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3.60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4" name="Google Shape;434;p21"/>
              <p:cNvSpPr txBox="1"/>
              <p:nvPr/>
            </p:nvSpPr>
            <p:spPr>
              <a:xfrm>
                <a:off x="2381250" y="0"/>
                <a:ext cx="762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4.56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21"/>
              <p:cNvSpPr txBox="1"/>
              <p:nvPr/>
            </p:nvSpPr>
            <p:spPr>
              <a:xfrm>
                <a:off x="3238500" y="0"/>
                <a:ext cx="762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0.931</a:t>
                </a:r>
                <a:endParaRPr b="0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6" name="Google Shape;436;p21"/>
            <p:cNvGrpSpPr/>
            <p:nvPr/>
          </p:nvGrpSpPr>
          <p:grpSpPr>
            <a:xfrm>
              <a:off x="0" y="2019300"/>
              <a:ext cx="4191000" cy="419100"/>
              <a:chOff x="0" y="0"/>
              <a:chExt cx="4191000" cy="419100"/>
            </a:xfrm>
          </p:grpSpPr>
          <p:sp>
            <p:nvSpPr>
              <p:cNvPr id="437" name="Google Shape;437;p21"/>
              <p:cNvSpPr/>
              <p:nvPr/>
            </p:nvSpPr>
            <p:spPr>
              <a:xfrm>
                <a:off x="0" y="0"/>
                <a:ext cx="4191000" cy="419100"/>
              </a:xfrm>
              <a:prstGeom prst="rect">
                <a:avLst/>
              </a:prstGeom>
              <a:solidFill>
                <a:srgbClr val="F7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38" name="Google Shape;438;p21"/>
              <p:cNvCxnSpPr/>
              <p:nvPr/>
            </p:nvCxnSpPr>
            <p:spPr>
              <a:xfrm>
                <a:off x="0" y="419100"/>
                <a:ext cx="4191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AEAE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9" name="Google Shape;439;p21"/>
              <p:cNvSpPr txBox="1"/>
              <p:nvPr/>
            </p:nvSpPr>
            <p:spPr>
              <a:xfrm>
                <a:off x="152400" y="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Average Baseline</a:t>
                </a:r>
                <a:endParaRPr b="0" sz="11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21"/>
              <p:cNvSpPr txBox="1"/>
              <p:nvPr/>
            </p:nvSpPr>
            <p:spPr>
              <a:xfrm>
                <a:off x="152400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14.03</a:t>
                </a:r>
                <a:endParaRPr b="0" sz="11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21"/>
              <p:cNvSpPr txBox="1"/>
              <p:nvPr/>
            </p:nvSpPr>
            <p:spPr>
              <a:xfrm>
                <a:off x="238125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17.31</a:t>
                </a:r>
                <a:endParaRPr b="0" sz="11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21"/>
              <p:cNvSpPr txBox="1"/>
              <p:nvPr/>
            </p:nvSpPr>
            <p:spPr>
              <a:xfrm>
                <a:off x="3238500" y="0"/>
                <a:ext cx="762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777777"/>
                    </a:solidFill>
                    <a:latin typeface="Inter"/>
                    <a:ea typeface="Inter"/>
                    <a:cs typeface="Inter"/>
                    <a:sym typeface="Inter"/>
                  </a:rPr>
                  <a:t>0.000</a:t>
                </a:r>
                <a:endParaRPr b="0" sz="1100">
                  <a:solidFill>
                    <a:srgbClr val="77777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43" name="Google Shape;443;p21"/>
            <p:cNvSpPr txBox="1"/>
            <p:nvPr/>
          </p:nvSpPr>
          <p:spPr>
            <a:xfrm>
              <a:off x="0" y="2571750"/>
              <a:ext cx="419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lang="en" sz="10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MAE:</a:t>
              </a: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Mean Absolute Error (lower is better)</a:t>
              </a:r>
              <a:endParaRPr b="0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lang="en" sz="10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RMSE:</a:t>
              </a: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Root Mean Squared Error (lower is better)</a:t>
              </a:r>
              <a:endParaRPr b="0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lang="en" sz="100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R²:</a:t>
              </a:r>
              <a:r>
                <a:rPr b="0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 Coefficient of Determination (higher is better)</a:t>
              </a:r>
              <a:endParaRPr b="0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449" name="Google Shape;449;p22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2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2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2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3" name="Google Shape;453;p22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454" name="Google Shape;454;p22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22"/>
          <p:cNvSpPr txBox="1"/>
          <p:nvPr/>
        </p:nvSpPr>
        <p:spPr>
          <a:xfrm>
            <a:off x="762000" y="333375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Order Volume Time-Series Forecasting Analysis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7" name="Google Shape;457;p22"/>
          <p:cNvCxnSpPr/>
          <p:nvPr/>
        </p:nvCxnSpPr>
        <p:spPr>
          <a:xfrm>
            <a:off x="381000" y="9048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22"/>
          <p:cNvCxnSpPr/>
          <p:nvPr/>
        </p:nvCxnSpPr>
        <p:spPr>
          <a:xfrm>
            <a:off x="4572000" y="904875"/>
            <a:ext cx="0" cy="38577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22"/>
          <p:cNvSpPr txBox="1"/>
          <p:nvPr/>
        </p:nvSpPr>
        <p:spPr>
          <a:xfrm>
            <a:off x="381000" y="1047750"/>
            <a:ext cx="4000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Analytical Pipeline &amp; Stationarity</a:t>
            </a:r>
            <a:endParaRPr b="0" sz="1200">
              <a:solidFill>
                <a:srgbClr val="006C5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Decomposition: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Hourly order aggregation followed by time-series decomposition (trend, seasonality, residual noise).</a:t>
            </a:r>
            <a:endParaRPr b="0" sz="1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Stationarity: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Confirmed stationarity via Augmented Dickey-Fuller (ADF) test to establish model viability.</a:t>
            </a:r>
            <a:endParaRPr b="0" sz="1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381000" y="2047875"/>
            <a:ext cx="4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Baseline vs. Complex Model Metrics</a:t>
            </a:r>
            <a:endParaRPr b="0" sz="1200">
              <a:solidFill>
                <a:srgbClr val="006C5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61" name="Google Shape;461;p22"/>
          <p:cNvGrpSpPr/>
          <p:nvPr/>
        </p:nvGrpSpPr>
        <p:grpSpPr>
          <a:xfrm>
            <a:off x="381000" y="2333625"/>
            <a:ext cx="1905000" cy="809700"/>
            <a:chOff x="0" y="0"/>
            <a:chExt cx="1905000" cy="809700"/>
          </a:xfrm>
        </p:grpSpPr>
        <p:sp>
          <p:nvSpPr>
            <p:cNvPr id="462" name="Google Shape;462;p22"/>
            <p:cNvSpPr/>
            <p:nvPr/>
          </p:nvSpPr>
          <p:spPr>
            <a:xfrm>
              <a:off x="0" y="0"/>
              <a:ext cx="1905000" cy="8097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0" y="0"/>
              <a:ext cx="19050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133350" y="95250"/>
              <a:ext cx="16383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0.86</a:t>
              </a:r>
              <a:endParaRPr b="0" sz="204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Flat Avg Baseline (MAE)</a:t>
              </a:r>
              <a:endParaRPr b="0" sz="723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Optimal performance</a:t>
              </a:r>
              <a:endParaRPr b="0" sz="76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5" name="Google Shape;465;p22"/>
          <p:cNvGrpSpPr/>
          <p:nvPr/>
        </p:nvGrpSpPr>
        <p:grpSpPr>
          <a:xfrm>
            <a:off x="2428875" y="2333625"/>
            <a:ext cx="1952700" cy="809700"/>
            <a:chOff x="0" y="0"/>
            <a:chExt cx="1952700" cy="809700"/>
          </a:xfrm>
        </p:grpSpPr>
        <p:sp>
          <p:nvSpPr>
            <p:cNvPr id="466" name="Google Shape;466;p22"/>
            <p:cNvSpPr/>
            <p:nvPr/>
          </p:nvSpPr>
          <p:spPr>
            <a:xfrm>
              <a:off x="0" y="0"/>
              <a:ext cx="1952700" cy="8097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2"/>
            <p:cNvSpPr txBox="1"/>
            <p:nvPr/>
          </p:nvSpPr>
          <p:spPr>
            <a:xfrm>
              <a:off x="133350" y="95250"/>
              <a:ext cx="16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55555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1.23</a:t>
              </a:r>
              <a:endParaRPr b="0" sz="2040">
                <a:solidFill>
                  <a:srgbClr val="55555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Seasonal Naive (MAE)</a:t>
              </a:r>
              <a:endParaRPr b="0" sz="723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Repeats prev. week demand</a:t>
              </a:r>
              <a:endParaRPr b="0" sz="76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9" name="Google Shape;469;p22"/>
          <p:cNvGrpSpPr/>
          <p:nvPr/>
        </p:nvGrpSpPr>
        <p:grpSpPr>
          <a:xfrm>
            <a:off x="381000" y="3286125"/>
            <a:ext cx="4000500" cy="1333500"/>
            <a:chOff x="0" y="0"/>
            <a:chExt cx="4000500" cy="1333500"/>
          </a:xfrm>
        </p:grpSpPr>
        <p:sp>
          <p:nvSpPr>
            <p:cNvPr id="470" name="Google Shape;470;p22"/>
            <p:cNvSpPr/>
            <p:nvPr/>
          </p:nvSpPr>
          <p:spPr>
            <a:xfrm>
              <a:off x="0" y="0"/>
              <a:ext cx="40005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0" y="0"/>
              <a:ext cx="57300" cy="1333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2"/>
            <p:cNvSpPr txBox="1"/>
            <p:nvPr/>
          </p:nvSpPr>
          <p:spPr>
            <a:xfrm>
              <a:off x="152400" y="114300"/>
              <a:ext cx="3714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Operational Insight</a:t>
              </a:r>
              <a:endParaRPr b="0" sz="971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Simple baselines offer high utility when demand lacks regular patterns. Demand is steady rather than spiky, averaging </a:t>
              </a:r>
              <a:r>
                <a:rPr b="1" lang="en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~1.1 orders per hour</a:t>
              </a:r>
              <a:r>
                <a:rPr b="0" lang="en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87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Operational Takeaway:</a:t>
              </a:r>
              <a:r>
                <a:rPr b="0" lang="en" sz="87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Clock-based rostering and complex hourly forecasting (ARIMA / Prophet) are unsupported by current data patterns.</a:t>
              </a:r>
              <a:endParaRPr b="0" sz="87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73" name="Google Shape;473;p22"/>
          <p:cNvSpPr txBox="1"/>
          <p:nvPr/>
        </p:nvSpPr>
        <p:spPr>
          <a:xfrm>
            <a:off x="4762500" y="1047750"/>
            <a:ext cx="400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Empirical Demand Patterns</a:t>
            </a:r>
            <a:endParaRPr b="0" sz="1200">
              <a:solidFill>
                <a:srgbClr val="006C5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4762500" y="1333500"/>
            <a:ext cx="4000500" cy="185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2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4810125" y="1409700"/>
            <a:ext cx="3905400" cy="1572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2"/>
          <p:cNvGrpSpPr/>
          <p:nvPr/>
        </p:nvGrpSpPr>
        <p:grpSpPr>
          <a:xfrm>
            <a:off x="4762500" y="3333750"/>
            <a:ext cx="4000500" cy="1285800"/>
            <a:chOff x="0" y="0"/>
            <a:chExt cx="4000500" cy="1285800"/>
          </a:xfrm>
        </p:grpSpPr>
        <p:sp>
          <p:nvSpPr>
            <p:cNvPr id="477" name="Google Shape;477;p22"/>
            <p:cNvSpPr/>
            <p:nvPr/>
          </p:nvSpPr>
          <p:spPr>
            <a:xfrm>
              <a:off x="0" y="0"/>
              <a:ext cx="4000500" cy="12858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0" y="0"/>
              <a:ext cx="38100" cy="12858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 txBox="1"/>
            <p:nvPr/>
          </p:nvSpPr>
          <p:spPr>
            <a:xfrm>
              <a:off x="152400" y="114300"/>
              <a:ext cx="3714900" cy="10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Observed Data Characteristics</a:t>
              </a:r>
              <a:endParaRPr b="0" sz="105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Hourly Distribution:</a:t>
              </a:r>
              <a:r>
                <a:rPr b="0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Volume remains tightly clustered around the 1.1 orders/hr baseline with minimal intra-day variation.</a:t>
              </a:r>
              <a:endParaRPr b="0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City Volumes:</a:t>
              </a:r>
              <a:r>
                <a:rPr b="0"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Delhi (7.9) and Mumbai (6.5) lead daily volume, followed by Bengaluru (4.4), Hyderabad (4.2), and Pune (4.2).</a:t>
              </a:r>
              <a:endParaRPr b="0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85" name="Google Shape;485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7" name="Google Shape;487;p23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cxnSp>
            <p:nvCxnSpPr>
              <p:cNvPr id="488" name="Google Shape;488;p23"/>
              <p:cNvCxnSpPr/>
              <p:nvPr/>
            </p:nvCxnSpPr>
            <p:spPr>
              <a:xfrm>
                <a:off x="381000" y="0"/>
                <a:ext cx="0" cy="514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9" name="Google Shape;489;p23"/>
              <p:cNvCxnSpPr/>
              <p:nvPr/>
            </p:nvCxnSpPr>
            <p:spPr>
              <a:xfrm>
                <a:off x="8763000" y="0"/>
                <a:ext cx="0" cy="514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0" name="Google Shape;490;p23"/>
              <p:cNvCxnSpPr/>
              <p:nvPr/>
            </p:nvCxnSpPr>
            <p:spPr>
              <a:xfrm>
                <a:off x="0" y="38100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1" name="Google Shape;491;p23"/>
              <p:cNvCxnSpPr/>
              <p:nvPr/>
            </p:nvCxnSpPr>
            <p:spPr>
              <a:xfrm>
                <a:off x="0" y="476250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D0D0D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92" name="Google Shape;492;p23"/>
            <p:cNvGrpSpPr/>
            <p:nvPr/>
          </p:nvGrpSpPr>
          <p:grpSpPr>
            <a:xfrm>
              <a:off x="381000" y="304800"/>
              <a:ext cx="304800" cy="304800"/>
              <a:chOff x="0" y="0"/>
              <a:chExt cx="304800" cy="304800"/>
            </a:xfrm>
          </p:grpSpPr>
          <p:sp>
            <p:nvSpPr>
              <p:cNvPr id="493" name="Google Shape;493;p23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F7F7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152400" y="152400"/>
                <a:ext cx="152400" cy="152400"/>
              </a:xfrm>
              <a:prstGeom prst="rect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5" name="Google Shape;495;p23"/>
            <p:cNvSpPr txBox="1"/>
            <p:nvPr/>
          </p:nvSpPr>
          <p:spPr>
            <a:xfrm>
              <a:off x="762000" y="238125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7F7F7"/>
                  </a:solidFill>
                  <a:latin typeface="Inter"/>
                  <a:ea typeface="Inter"/>
                  <a:cs typeface="Inter"/>
                  <a:sym typeface="Inter"/>
                </a:rPr>
                <a:t>Machine Learning Insights &amp; Operational Drivers</a:t>
              </a:r>
              <a:endParaRPr b="1" sz="2400">
                <a:solidFill>
                  <a:srgbClr val="F7F7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496" name="Google Shape;496;p23"/>
          <p:cNvCxnSpPr/>
          <p:nvPr/>
        </p:nvCxnSpPr>
        <p:spPr>
          <a:xfrm>
            <a:off x="381000" y="32575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23"/>
          <p:cNvSpPr txBox="1"/>
          <p:nvPr/>
        </p:nvSpPr>
        <p:spPr>
          <a:xfrm>
            <a:off x="381000" y="3352800"/>
            <a:ext cx="2667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rPr>
              <a:t>Premium Frequent Diners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generate </a:t>
            </a:r>
            <a:r>
              <a:rPr b="1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41%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of total order value as core revenue drivers.</a:t>
            </a:r>
            <a:endParaRPr b="0" sz="1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Weekend High-Ticket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poses risk with a </a:t>
            </a:r>
            <a:r>
              <a:rPr b="1" lang="en" sz="100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29%</a:t>
            </a:r>
            <a:r>
              <a:rPr b="0" lang="en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negative-review rate despite high basket sizes.</a:t>
            </a:r>
            <a:endParaRPr b="0" sz="10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Slow-Prep kitchens manage 42% of volume, averaging ~68 min delivery times.</a:t>
            </a:r>
            <a:endParaRPr b="0" sz="95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3238500" y="3352800"/>
            <a:ext cx="2667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Regression Analysis Drivers</a:t>
            </a:r>
            <a:endParaRPr b="0" sz="900">
              <a:solidFill>
                <a:srgbClr val="5555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+ 3.0 min / additional km</a:t>
            </a:r>
            <a:endParaRPr b="0" sz="950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+ 16.0 min / heavy traffic</a:t>
            </a:r>
            <a:endParaRPr b="0" sz="950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+ 12.0 min / rain conditions</a:t>
            </a:r>
            <a:endParaRPr b="0" sz="950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Delays are condition and distance driven rather than hourly volume surges.</a:t>
            </a:r>
            <a:endParaRPr b="0" sz="95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99" name="Google Shape;499;p23"/>
          <p:cNvGrpSpPr/>
          <p:nvPr/>
        </p:nvGrpSpPr>
        <p:grpSpPr>
          <a:xfrm>
            <a:off x="6096000" y="3352800"/>
            <a:ext cx="2667000" cy="1285800"/>
            <a:chOff x="0" y="0"/>
            <a:chExt cx="2667000" cy="1285800"/>
          </a:xfrm>
        </p:grpSpPr>
        <p:sp>
          <p:nvSpPr>
            <p:cNvPr id="500" name="Google Shape;500;p23"/>
            <p:cNvSpPr/>
            <p:nvPr/>
          </p:nvSpPr>
          <p:spPr>
            <a:xfrm>
              <a:off x="0" y="0"/>
              <a:ext cx="2667000" cy="12858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0" y="0"/>
              <a:ext cx="57300" cy="12858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 txBox="1"/>
            <p:nvPr/>
          </p:nvSpPr>
          <p:spPr>
            <a:xfrm>
              <a:off x="190500" y="142875"/>
              <a:ext cx="23337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98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Regional Demand</a:t>
              </a:r>
              <a:endParaRPr b="0" sz="698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480">
                  <a:solidFill>
                    <a:srgbClr val="006C5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53%</a:t>
              </a:r>
              <a:endParaRPr b="0" sz="2480">
                <a:solidFill>
                  <a:srgbClr val="006C5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75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Delhi &amp; Mumbai Volume</a:t>
              </a:r>
              <a:endParaRPr b="0" sz="775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Concentrated demand across major metropolitan hubs.</a:t>
              </a:r>
              <a:endParaRPr b="0" sz="736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0" y="0"/>
            <a:ext cx="9144000" cy="10479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9" name="Google Shape;509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510" name="Google Shape;510;p24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24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24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24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14" name="Google Shape;514;p24"/>
          <p:cNvGrpSpPr/>
          <p:nvPr/>
        </p:nvGrpSpPr>
        <p:grpSpPr>
          <a:xfrm>
            <a:off x="381000" y="361950"/>
            <a:ext cx="304800" cy="304800"/>
            <a:chOff x="0" y="0"/>
            <a:chExt cx="304800" cy="304800"/>
          </a:xfrm>
        </p:grpSpPr>
        <p:sp>
          <p:nvSpPr>
            <p:cNvPr id="515" name="Google Shape;515;p24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24"/>
          <p:cNvSpPr txBox="1"/>
          <p:nvPr/>
        </p:nvSpPr>
        <p:spPr>
          <a:xfrm>
            <a:off x="762000" y="285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7F7F7"/>
                </a:solidFill>
                <a:latin typeface="Inter"/>
                <a:ea typeface="Inter"/>
                <a:cs typeface="Inter"/>
                <a:sym typeface="Inter"/>
              </a:rPr>
              <a:t>Prioritized Strategic Action Plan</a:t>
            </a:r>
            <a:endParaRPr b="1" sz="2400">
              <a:solidFill>
                <a:srgbClr val="F7F7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8" name="Google Shape;518;p24"/>
          <p:cNvGrpSpPr/>
          <p:nvPr/>
        </p:nvGrpSpPr>
        <p:grpSpPr>
          <a:xfrm>
            <a:off x="381000" y="1190625"/>
            <a:ext cx="4048200" cy="781200"/>
            <a:chOff x="0" y="0"/>
            <a:chExt cx="4048200" cy="781200"/>
          </a:xfrm>
        </p:grpSpPr>
        <p:sp>
          <p:nvSpPr>
            <p:cNvPr id="519" name="Google Shape;519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01. RETENTION PROGRAM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Target Weekend High-Ticket Customers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Launch a targeted retention program to address disproportionately high negative review rates and protect significant order value.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2" name="Google Shape;522;p24"/>
          <p:cNvGrpSpPr/>
          <p:nvPr/>
        </p:nvGrpSpPr>
        <p:grpSpPr>
          <a:xfrm>
            <a:off x="381000" y="2047875"/>
            <a:ext cx="4048200" cy="781200"/>
            <a:chOff x="0" y="0"/>
            <a:chExt cx="4048200" cy="781200"/>
          </a:xfrm>
        </p:grpSpPr>
        <p:sp>
          <p:nvSpPr>
            <p:cNvPr id="523" name="Google Shape;523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02. KITCHEN EFFICIENCY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Reduce Slow-Prep Kitchen Times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Implement a prep-time reduction initiative focused specifically on slow-prep restaurants to bring times under 25 minutes.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6" name="Google Shape;526;p24"/>
          <p:cNvGrpSpPr/>
          <p:nvPr/>
        </p:nvGrpSpPr>
        <p:grpSpPr>
          <a:xfrm>
            <a:off x="381000" y="2905125"/>
            <a:ext cx="4048200" cy="781200"/>
            <a:chOff x="0" y="0"/>
            <a:chExt cx="4048200" cy="781200"/>
          </a:xfrm>
        </p:grpSpPr>
        <p:sp>
          <p:nvSpPr>
            <p:cNvPr id="527" name="Google Shape;527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03. LOGISTICS FLEXIBILITY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Dynamic Rider Allocation &amp; Weather ETA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Transition to dynamic rider allocation and adjust delivery promises during rain and heavy traffic instead of fixed schedules.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0" name="Google Shape;530;p24"/>
          <p:cNvGrpSpPr/>
          <p:nvPr/>
        </p:nvGrpSpPr>
        <p:grpSpPr>
          <a:xfrm>
            <a:off x="381000" y="3762375"/>
            <a:ext cx="4048200" cy="781200"/>
            <a:chOff x="0" y="0"/>
            <a:chExt cx="4048200" cy="781200"/>
          </a:xfrm>
        </p:grpSpPr>
        <p:sp>
          <p:nvSpPr>
            <p:cNvPr id="531" name="Google Shape;531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04. DISPATCH OPTIMIZATION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Long-Distance Order Routing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Execute distance-based routing and tailored surcharge strategies for long-distance deliveries exceeding 9 kilometers.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4" name="Google Shape;534;p24"/>
          <p:cNvGrpSpPr/>
          <p:nvPr/>
        </p:nvGrpSpPr>
        <p:grpSpPr>
          <a:xfrm>
            <a:off x="4714875" y="1190625"/>
            <a:ext cx="4048200" cy="781200"/>
            <a:chOff x="0" y="0"/>
            <a:chExt cx="4048200" cy="781200"/>
          </a:xfrm>
        </p:grpSpPr>
        <p:sp>
          <p:nvSpPr>
            <p:cNvPr id="535" name="Google Shape;535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05. QUALITY INTERVENTION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Fast-Prep Kitchen Quality Plan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Initiate a targeted food quality intervention plan in lower-rated, fast-prep kitchens to significantly reduce cancellation rates.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8" name="Google Shape;538;p24"/>
          <p:cNvGrpSpPr/>
          <p:nvPr/>
        </p:nvGrpSpPr>
        <p:grpSpPr>
          <a:xfrm>
            <a:off x="4714875" y="2047875"/>
            <a:ext cx="4048200" cy="781200"/>
            <a:chOff x="0" y="0"/>
            <a:chExt cx="4048200" cy="781200"/>
          </a:xfrm>
        </p:grpSpPr>
        <p:sp>
          <p:nvSpPr>
            <p:cNvPr id="539" name="Google Shape;539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06. ML MODEL DEPLOYMENT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Dynamic App ETA via Ridge Regression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Deploy the Ridge Regression ML model to supply realistic, dynamic ETA predictions directly within the user app interface.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2" name="Google Shape;542;p24"/>
          <p:cNvGrpSpPr/>
          <p:nvPr/>
        </p:nvGrpSpPr>
        <p:grpSpPr>
          <a:xfrm>
            <a:off x="4714875" y="2905125"/>
            <a:ext cx="4048200" cy="781200"/>
            <a:chOff x="0" y="0"/>
            <a:chExt cx="4048200" cy="781200"/>
          </a:xfrm>
        </p:grpSpPr>
        <p:sp>
          <p:nvSpPr>
            <p:cNvPr id="543" name="Google Shape;543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07. REGIONAL OPERATIONS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Metro Monitoring &amp; Pune Root-Cause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Focus operational monitoring on Delhi and Mumbai, while investigating root causes behind Pune's slow 63-minute average delivery time.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6" name="Google Shape;546;p24"/>
          <p:cNvGrpSpPr/>
          <p:nvPr/>
        </p:nvGrpSpPr>
        <p:grpSpPr>
          <a:xfrm>
            <a:off x="4714875" y="3762375"/>
            <a:ext cx="4048200" cy="781200"/>
            <a:chOff x="0" y="0"/>
            <a:chExt cx="4048200" cy="781200"/>
          </a:xfrm>
        </p:grpSpPr>
        <p:sp>
          <p:nvSpPr>
            <p:cNvPr id="547" name="Google Shape;547;p24"/>
            <p:cNvSpPr/>
            <p:nvPr/>
          </p:nvSpPr>
          <p:spPr>
            <a:xfrm>
              <a:off x="0" y="0"/>
              <a:ext cx="4048200" cy="781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AEA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0" y="0"/>
              <a:ext cx="38100" cy="781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 txBox="1"/>
            <p:nvPr/>
          </p:nvSpPr>
          <p:spPr>
            <a:xfrm>
              <a:off x="152400" y="76200"/>
              <a:ext cx="37623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08. ORDER FAILURE DIAGNOSTICS</a:t>
              </a:r>
              <a:endParaRPr b="1" sz="1018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Cancelled &amp; Failed Order Investigation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Conduct a deep-dive operational investigation into the 11.8% of total orders that end up cancelled or failed.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50" name="Google Shape;550;p24"/>
          <p:cNvCxnSpPr/>
          <p:nvPr/>
        </p:nvCxnSpPr>
        <p:spPr>
          <a:xfrm>
            <a:off x="381000" y="46863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556" name="Google Shape;556;p25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7" name="Google Shape;557;p25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25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25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0" name="Google Shape;560;p25"/>
          <p:cNvGrpSpPr/>
          <p:nvPr/>
        </p:nvGrpSpPr>
        <p:grpSpPr>
          <a:xfrm>
            <a:off x="381000" y="361950"/>
            <a:ext cx="266850" cy="266850"/>
            <a:chOff x="0" y="0"/>
            <a:chExt cx="266850" cy="266850"/>
          </a:xfrm>
        </p:grpSpPr>
        <p:sp>
          <p:nvSpPr>
            <p:cNvPr id="561" name="Google Shape;561;p25"/>
            <p:cNvSpPr/>
            <p:nvPr/>
          </p:nvSpPr>
          <p:spPr>
            <a:xfrm>
              <a:off x="0" y="0"/>
              <a:ext cx="133500" cy="133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133350" y="133350"/>
              <a:ext cx="133500" cy="1335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25"/>
          <p:cNvSpPr txBox="1"/>
          <p:nvPr/>
        </p:nvSpPr>
        <p:spPr>
          <a:xfrm>
            <a:off x="762000" y="3048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Analysis Limitations &amp; Methodological Constraints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4" name="Google Shape;564;p25"/>
          <p:cNvCxnSpPr/>
          <p:nvPr/>
        </p:nvCxnSpPr>
        <p:spPr>
          <a:xfrm>
            <a:off x="381000" y="8763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5" name="Google Shape;565;p25"/>
          <p:cNvGrpSpPr/>
          <p:nvPr/>
        </p:nvGrpSpPr>
        <p:grpSpPr>
          <a:xfrm>
            <a:off x="381000" y="1028700"/>
            <a:ext cx="4095900" cy="838200"/>
            <a:chOff x="0" y="0"/>
            <a:chExt cx="4095900" cy="838200"/>
          </a:xfrm>
        </p:grpSpPr>
        <p:sp>
          <p:nvSpPr>
            <p:cNvPr id="566" name="Google Shape;566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8" name="Google Shape;568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569" name="Google Shape;569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1" name="Google Shape;571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01 / DATASET STRUCTURE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Synthetic Data Artifacts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Tip amounts are independent of service quality as an artifact of synthetic data generation and may not mirror live operations.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2" name="Google Shape;572;p25"/>
          <p:cNvGrpSpPr/>
          <p:nvPr/>
        </p:nvGrpSpPr>
        <p:grpSpPr>
          <a:xfrm>
            <a:off x="4667250" y="1028700"/>
            <a:ext cx="4095900" cy="838200"/>
            <a:chOff x="0" y="0"/>
            <a:chExt cx="4095900" cy="838200"/>
          </a:xfrm>
        </p:grpSpPr>
        <p:sp>
          <p:nvSpPr>
            <p:cNvPr id="573" name="Google Shape;573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5" name="Google Shape;575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576" name="Google Shape;576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8" name="Google Shape;578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02 / TEMPORAL DENSITY</a:t>
              </a:r>
              <a:endParaRPr b="0" sz="786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Low Hourly Order Volume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Analysis is constrained by low order volume (avg 1.1 orders/hr), creating sparse temporal data for granular busy-hour detection.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9" name="Google Shape;579;p25"/>
          <p:cNvGrpSpPr/>
          <p:nvPr/>
        </p:nvGrpSpPr>
        <p:grpSpPr>
          <a:xfrm>
            <a:off x="381000" y="1962150"/>
            <a:ext cx="4095900" cy="838200"/>
            <a:chOff x="0" y="0"/>
            <a:chExt cx="4095900" cy="838200"/>
          </a:xfrm>
        </p:grpSpPr>
        <p:sp>
          <p:nvSpPr>
            <p:cNvPr id="580" name="Google Shape;580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2" name="Google Shape;582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583" name="Google Shape;583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5" name="Google Shape;585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03 / HISTORICAL SCOPE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Short Historical Window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A short 6-month data window severely restricts the capacity to detect macro annual seasonality or broader demand cycles.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86" name="Google Shape;586;p25"/>
          <p:cNvGrpSpPr/>
          <p:nvPr/>
        </p:nvGrpSpPr>
        <p:grpSpPr>
          <a:xfrm>
            <a:off x="4667250" y="1962150"/>
            <a:ext cx="4095900" cy="838200"/>
            <a:chOff x="0" y="0"/>
            <a:chExt cx="4095900" cy="838200"/>
          </a:xfrm>
        </p:grpSpPr>
        <p:sp>
          <p:nvSpPr>
            <p:cNvPr id="587" name="Google Shape;587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9" name="Google Shape;589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590" name="Google Shape;590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2" name="Google Shape;592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04 / SEGMENTATION BOUNDARIES</a:t>
              </a:r>
              <a:endParaRPr b="0" sz="723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Overlapping Customer Clusters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8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Segmentation models yielded low cluster separation (0.16 score), causing customers to sit ambiguously between behavioral segments.</a:t>
              </a:r>
              <a:endParaRPr b="0" sz="808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3" name="Google Shape;593;p25"/>
          <p:cNvGrpSpPr/>
          <p:nvPr/>
        </p:nvGrpSpPr>
        <p:grpSpPr>
          <a:xfrm>
            <a:off x="381000" y="2895600"/>
            <a:ext cx="4095900" cy="838200"/>
            <a:chOff x="0" y="0"/>
            <a:chExt cx="4095900" cy="838200"/>
          </a:xfrm>
        </p:grpSpPr>
        <p:sp>
          <p:nvSpPr>
            <p:cNvPr id="594" name="Google Shape;594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6" name="Google Shape;596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597" name="Google Shape;597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9" name="Google Shape;599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05 / NLP VALIDITY</a:t>
              </a:r>
              <a:endParaRPr b="0" sz="786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Artificially Inflated Sentiment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NLP sentiment scores are skewed upward due to synthetic review repetitions and heuristic rating-derived label assignments.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0" name="Google Shape;600;p25"/>
          <p:cNvGrpSpPr/>
          <p:nvPr/>
        </p:nvGrpSpPr>
        <p:grpSpPr>
          <a:xfrm>
            <a:off x="4667250" y="2895600"/>
            <a:ext cx="4095900" cy="838200"/>
            <a:chOff x="0" y="0"/>
            <a:chExt cx="4095900" cy="838200"/>
          </a:xfrm>
        </p:grpSpPr>
        <p:sp>
          <p:nvSpPr>
            <p:cNvPr id="601" name="Google Shape;601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3" name="Google Shape;603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604" name="Google Shape;604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6" name="Google Shape;606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06 / PREDICTIVE INPUTS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Restricted Delivery Features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Delivery prediction models rely on static inputs, lacking live traffic feeds, rider GPS tracking, and real-time rider availability.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7" name="Google Shape;607;p25"/>
          <p:cNvGrpSpPr/>
          <p:nvPr/>
        </p:nvGrpSpPr>
        <p:grpSpPr>
          <a:xfrm>
            <a:off x="381000" y="3829050"/>
            <a:ext cx="4095900" cy="838200"/>
            <a:chOff x="0" y="0"/>
            <a:chExt cx="4095900" cy="838200"/>
          </a:xfrm>
        </p:grpSpPr>
        <p:sp>
          <p:nvSpPr>
            <p:cNvPr id="608" name="Google Shape;608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0" name="Google Shape;610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611" name="Google Shape;611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3" name="Google Shape;613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07 / GEOSPATIAL SCOPE</a:t>
              </a:r>
              <a:endParaRPr b="0" sz="850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Coarse Spatial Resolution</a:t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Spatial analysis lacks neighborhood-level granularity, limiting localized micro-zone routing and geo-spatial optimization.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4" name="Google Shape;614;p25"/>
          <p:cNvGrpSpPr/>
          <p:nvPr/>
        </p:nvGrpSpPr>
        <p:grpSpPr>
          <a:xfrm>
            <a:off x="4667250" y="3829050"/>
            <a:ext cx="4095900" cy="838200"/>
            <a:chOff x="0" y="0"/>
            <a:chExt cx="4095900" cy="838200"/>
          </a:xfrm>
        </p:grpSpPr>
        <p:sp>
          <p:nvSpPr>
            <p:cNvPr id="615" name="Google Shape;615;p25"/>
            <p:cNvSpPr/>
            <p:nvPr/>
          </p:nvSpPr>
          <p:spPr>
            <a:xfrm>
              <a:off x="0" y="0"/>
              <a:ext cx="40959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0" y="0"/>
              <a:ext cx="38100" cy="8382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7" name="Google Shape;617;p25"/>
            <p:cNvGrpSpPr/>
            <p:nvPr/>
          </p:nvGrpSpPr>
          <p:grpSpPr>
            <a:xfrm>
              <a:off x="3857625" y="123825"/>
              <a:ext cx="95400" cy="85800"/>
              <a:chOff x="-47625" y="-47625"/>
              <a:chExt cx="95400" cy="85800"/>
            </a:xfrm>
          </p:grpSpPr>
          <p:sp>
            <p:nvSpPr>
              <p:cNvPr id="618" name="Google Shape;618;p25"/>
              <p:cNvSpPr/>
              <p:nvPr/>
            </p:nvSpPr>
            <p:spPr>
              <a:xfrm>
                <a:off x="-47625" y="-47625"/>
                <a:ext cx="95400" cy="858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1E5E1"/>
              </a:solidFill>
              <a:ln cap="flat" cmpd="sng" w="11425">
                <a:solidFill>
                  <a:srgbClr val="006C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5"/>
              <p:cNvSpPr/>
              <p:nvPr/>
            </p:nvSpPr>
            <p:spPr>
              <a:xfrm>
                <a:off x="-5715" y="3810"/>
                <a:ext cx="11400" cy="11400"/>
              </a:xfrm>
              <a:prstGeom prst="ellipse">
                <a:avLst/>
              </a:prstGeom>
              <a:solidFill>
                <a:srgbClr val="006C5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0" name="Google Shape;620;p25"/>
            <p:cNvSpPr txBox="1"/>
            <p:nvPr/>
          </p:nvSpPr>
          <p:spPr>
            <a:xfrm>
              <a:off x="152400" y="76200"/>
              <a:ext cx="36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006C5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08 / INFERENCE LOGIC</a:t>
              </a:r>
              <a:endParaRPr b="0" sz="786">
                <a:solidFill>
                  <a:srgbClr val="006C5B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Correlational Model Output</a:t>
              </a:r>
              <a:endParaRPr b="1" sz="101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All machine learning models describe purely correlational patterns across observed features rather than proven causal links.</a:t>
              </a:r>
              <a:endParaRPr b="0" sz="879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627" name="Google Shape;627;p26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26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26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26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1" name="Google Shape;631;p26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632" name="Google Shape;632;p2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" name="Google Shape;634;p26"/>
          <p:cNvSpPr txBox="1"/>
          <p:nvPr/>
        </p:nvSpPr>
        <p:spPr>
          <a:xfrm>
            <a:off x="762000" y="3619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Future Scope &amp; Strategic Roadmap</a:t>
            </a:r>
            <a:endParaRPr b="1" sz="2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5" name="Google Shape;635;p26"/>
          <p:cNvCxnSpPr/>
          <p:nvPr/>
        </p:nvCxnSpPr>
        <p:spPr>
          <a:xfrm>
            <a:off x="381000" y="95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6" name="Google Shape;636;p26"/>
          <p:cNvGrpSpPr/>
          <p:nvPr/>
        </p:nvGrpSpPr>
        <p:grpSpPr>
          <a:xfrm>
            <a:off x="381000" y="1066800"/>
            <a:ext cx="8382000" cy="342900"/>
            <a:chOff x="0" y="0"/>
            <a:chExt cx="8382000" cy="342900"/>
          </a:xfrm>
        </p:grpSpPr>
        <p:sp>
          <p:nvSpPr>
            <p:cNvPr id="637" name="Google Shape;637;p26"/>
            <p:cNvSpPr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solidFill>
              <a:srgbClr val="D1E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0" y="0"/>
              <a:ext cx="38100" cy="3429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6"/>
            <p:cNvSpPr txBox="1"/>
            <p:nvPr/>
          </p:nvSpPr>
          <p:spPr>
            <a:xfrm>
              <a:off x="152400" y="0"/>
              <a:ext cx="809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OBJECTIVE: Transition analytical pipeline from synthetic environment to a robust, live production system.</a:t>
              </a:r>
              <a:endParaRPr b="0" sz="11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40" name="Google Shape;640;p26"/>
          <p:cNvSpPr/>
          <p:nvPr/>
        </p:nvSpPr>
        <p:spPr>
          <a:xfrm>
            <a:off x="2362200" y="1676400"/>
            <a:ext cx="114300" cy="762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6C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4505325" y="1676400"/>
            <a:ext cx="114300" cy="762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6C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6"/>
          <p:cNvSpPr/>
          <p:nvPr/>
        </p:nvSpPr>
        <p:spPr>
          <a:xfrm>
            <a:off x="6648450" y="1676400"/>
            <a:ext cx="114300" cy="762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6C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26"/>
          <p:cNvGrpSpPr/>
          <p:nvPr/>
        </p:nvGrpSpPr>
        <p:grpSpPr>
          <a:xfrm>
            <a:off x="381000" y="1524000"/>
            <a:ext cx="1952700" cy="3048000"/>
            <a:chOff x="0" y="0"/>
            <a:chExt cx="1952700" cy="3048000"/>
          </a:xfrm>
        </p:grpSpPr>
        <p:sp>
          <p:nvSpPr>
            <p:cNvPr id="644" name="Google Shape;644;p26"/>
            <p:cNvSpPr/>
            <p:nvPr/>
          </p:nvSpPr>
          <p:spPr>
            <a:xfrm>
              <a:off x="0" y="0"/>
              <a:ext cx="19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6"/>
            <p:cNvSpPr txBox="1"/>
            <p:nvPr/>
          </p:nvSpPr>
          <p:spPr>
            <a:xfrm>
              <a:off x="142875" y="142875"/>
              <a:ext cx="166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PHASE 01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Live Data Integration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Operational Re-validation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Integrate real operational data to re-validate findings prior to business interventions.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Live API Ingestion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Upgrade models to ingest live weather and traffic APIs.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Real-Time Metrics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Track real-time driver queues and restaurant capacity metrics.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7" name="Google Shape;647;p26"/>
          <p:cNvGrpSpPr/>
          <p:nvPr/>
        </p:nvGrpSpPr>
        <p:grpSpPr>
          <a:xfrm>
            <a:off x="2524125" y="1524000"/>
            <a:ext cx="1952700" cy="3048000"/>
            <a:chOff x="0" y="0"/>
            <a:chExt cx="1952700" cy="3048000"/>
          </a:xfrm>
        </p:grpSpPr>
        <p:sp>
          <p:nvSpPr>
            <p:cNvPr id="648" name="Google Shape;648;p26"/>
            <p:cNvSpPr/>
            <p:nvPr/>
          </p:nvSpPr>
          <p:spPr>
            <a:xfrm>
              <a:off x="0" y="0"/>
              <a:ext cx="19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6"/>
            <p:cNvSpPr txBox="1"/>
            <p:nvPr/>
          </p:nvSpPr>
          <p:spPr>
            <a:xfrm>
              <a:off x="142875" y="142875"/>
              <a:ext cx="166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PHASE 02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Advanced NLP &amp; Models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BERT Review Mining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Implement advanced BERT language models on authentic free-text reviews.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Topic Extraction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Extract nuanced topics like rider behavior and specific food issues.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Segment Models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Develop dedicated churn and LTV prediction models for customer segments.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51" name="Google Shape;651;p26"/>
          <p:cNvGrpSpPr/>
          <p:nvPr/>
        </p:nvGrpSpPr>
        <p:grpSpPr>
          <a:xfrm>
            <a:off x="4667250" y="1524000"/>
            <a:ext cx="1952700" cy="3048000"/>
            <a:chOff x="0" y="0"/>
            <a:chExt cx="1952700" cy="3048000"/>
          </a:xfrm>
        </p:grpSpPr>
        <p:sp>
          <p:nvSpPr>
            <p:cNvPr id="652" name="Google Shape;652;p26"/>
            <p:cNvSpPr/>
            <p:nvPr/>
          </p:nvSpPr>
          <p:spPr>
            <a:xfrm>
              <a:off x="0" y="0"/>
              <a:ext cx="19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6"/>
            <p:cNvSpPr txBox="1"/>
            <p:nvPr/>
          </p:nvSpPr>
          <p:spPr>
            <a:xfrm>
              <a:off x="142875" y="142875"/>
              <a:ext cx="166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PHASE 03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Spatial Forecasting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Hyper-Local Granularity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Refine forecasting models for hyper-local spatial predictive accuracy.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Zone-Level Mapping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Deliver predictions specifically calibrated at the neighborhood and delivery-zone level.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55" name="Google Shape;655;p26"/>
          <p:cNvGrpSpPr/>
          <p:nvPr/>
        </p:nvGrpSpPr>
        <p:grpSpPr>
          <a:xfrm>
            <a:off x="6810375" y="1524000"/>
            <a:ext cx="1952700" cy="3048000"/>
            <a:chOff x="0" y="0"/>
            <a:chExt cx="1952700" cy="3048000"/>
          </a:xfrm>
        </p:grpSpPr>
        <p:sp>
          <p:nvSpPr>
            <p:cNvPr id="656" name="Google Shape;656;p26"/>
            <p:cNvSpPr/>
            <p:nvPr/>
          </p:nvSpPr>
          <p:spPr>
            <a:xfrm>
              <a:off x="0" y="0"/>
              <a:ext cx="19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0" y="0"/>
              <a:ext cx="1952700" cy="381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6"/>
            <p:cNvSpPr txBox="1"/>
            <p:nvPr/>
          </p:nvSpPr>
          <p:spPr>
            <a:xfrm>
              <a:off x="142875" y="142875"/>
              <a:ext cx="1666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6C5B"/>
                  </a:solidFill>
                  <a:latin typeface="Inter"/>
                  <a:ea typeface="Inter"/>
                  <a:cs typeface="Inter"/>
                  <a:sym typeface="Inter"/>
                </a:rPr>
                <a:t>PHASE 04</a:t>
              </a:r>
              <a:endParaRPr b="1" sz="900">
                <a:solidFill>
                  <a:srgbClr val="006C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MLOps &amp; A/B Testing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Automated Retraining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Fortify pipeline with automated model retraining to continuously detect data drift.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6C5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Controlled Validation</a:t>
              </a:r>
              <a:endParaRPr b="0" sz="1000">
                <a:solidFill>
                  <a:srgbClr val="006C5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Rigorously validate all operational recommendations via controlled A/B testing.</a:t>
              </a:r>
              <a:endParaRPr b="0" sz="9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2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664" name="Google Shape;664;p27"/>
            <p:cNvCxnSpPr/>
            <p:nvPr/>
          </p:nvCxnSpPr>
          <p:spPr>
            <a:xfrm>
              <a:off x="381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27"/>
            <p:cNvCxnSpPr/>
            <p:nvPr/>
          </p:nvCxnSpPr>
          <p:spPr>
            <a:xfrm>
              <a:off x="87630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27"/>
            <p:cNvCxnSpPr/>
            <p:nvPr/>
          </p:nvCxnSpPr>
          <p:spPr>
            <a:xfrm>
              <a:off x="0" y="3810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27"/>
            <p:cNvCxnSpPr/>
            <p:nvPr/>
          </p:nvCxnSpPr>
          <p:spPr>
            <a:xfrm>
              <a:off x="0" y="476250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0D0D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8" name="Google Shape;668;p27"/>
          <p:cNvGrpSpPr/>
          <p:nvPr/>
        </p:nvGrpSpPr>
        <p:grpSpPr>
          <a:xfrm>
            <a:off x="381000" y="381000"/>
            <a:ext cx="304800" cy="304800"/>
            <a:chOff x="0" y="0"/>
            <a:chExt cx="304800" cy="304800"/>
          </a:xfrm>
        </p:grpSpPr>
        <p:sp>
          <p:nvSpPr>
            <p:cNvPr id="669" name="Google Shape;669;p2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152400" y="152400"/>
              <a:ext cx="152400" cy="1524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1" name="Google Shape;671;p27"/>
          <p:cNvSpPr txBox="1"/>
          <p:nvPr/>
        </p:nvSpPr>
        <p:spPr>
          <a:xfrm>
            <a:off x="381000" y="85725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End-to-End ML Marketplace Optimization</a:t>
            </a:r>
            <a:endParaRPr b="1" sz="2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This project successfully demonstrates the powerful application of end-to-end machine learning in optimizing food delivery marketplaces. By integrating clustering, NLP, regression, and time-series forecasting, we translated raw operational data into targeted strategies for customer retention, kitchen efficiency, and dynamic dispatching.</a:t>
            </a:r>
            <a:endParaRPr b="0" sz="1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2" name="Google Shape;672;p27"/>
          <p:cNvGrpSpPr/>
          <p:nvPr/>
        </p:nvGrpSpPr>
        <p:grpSpPr>
          <a:xfrm>
            <a:off x="381000" y="2190750"/>
            <a:ext cx="8382000" cy="666900"/>
            <a:chOff x="0" y="0"/>
            <a:chExt cx="8382000" cy="666900"/>
          </a:xfrm>
        </p:grpSpPr>
        <p:sp>
          <p:nvSpPr>
            <p:cNvPr id="673" name="Google Shape;673;p27"/>
            <p:cNvSpPr/>
            <p:nvPr/>
          </p:nvSpPr>
          <p:spPr>
            <a:xfrm>
              <a:off x="0" y="0"/>
              <a:ext cx="8382000" cy="666900"/>
            </a:xfrm>
            <a:prstGeom prst="roundRect">
              <a:avLst>
                <a:gd fmla="val 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0" y="0"/>
              <a:ext cx="57300" cy="666900"/>
            </a:xfrm>
            <a:prstGeom prst="rect">
              <a:avLst/>
            </a:prstGeom>
            <a:solidFill>
              <a:srgbClr val="006C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 txBox="1"/>
            <p:nvPr/>
          </p:nvSpPr>
          <p:spPr>
            <a:xfrm>
              <a:off x="228600" y="114300"/>
              <a:ext cx="79248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6C5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&gt;_ PROJECT REPOSITORY</a:t>
              </a:r>
              <a:endParaRPr b="1" sz="1100">
                <a:solidFill>
                  <a:srgbClr val="006C5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7F7F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https://github.com/SharathKumar-2004/uber_eats_intelligence/tree/feature/uber-eats-pipeline</a:t>
              </a:r>
              <a:endParaRPr b="0" sz="1100">
                <a:solidFill>
                  <a:srgbClr val="F7F7F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676" name="Google Shape;676;p27"/>
          <p:cNvCxnSpPr/>
          <p:nvPr/>
        </p:nvCxnSpPr>
        <p:spPr>
          <a:xfrm>
            <a:off x="381000" y="3238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